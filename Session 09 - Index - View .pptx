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75" r:id="rId9"/>
    <p:sldId id="276" r:id="rId10"/>
    <p:sldId id="278" r:id="rId11"/>
    <p:sldId id="279" r:id="rId12"/>
    <p:sldId id="280" r:id="rId13"/>
    <p:sldId id="272" r:id="rId14"/>
  </p:sldIdLst>
  <p:sldSz cx="12192000" cy="6858000"/>
  <p:notesSz cx="6858000" cy="9144000"/>
  <p:embeddedFontLst>
    <p:embeddedFont>
      <p:font typeface="Montserrat ExtraBold" pitchFamily="2" charset="0"/>
      <p:bold r:id="rId16"/>
      <p:boldItalic r:id="rId17"/>
    </p:embeddedFont>
    <p:embeddedFont>
      <p:font typeface="Montserrat Medium" pitchFamily="2" charset="0"/>
      <p:regular r:id="rId18"/>
      <p:bold r:id="rId19"/>
      <p:italic r:id="rId20"/>
      <p:boldItalic r:id="rId21"/>
    </p:embeddedFont>
    <p:embeddedFont>
      <p:font typeface="Montserrat Black" pitchFamily="2" charset="0"/>
      <p:bold r:id="rId22"/>
      <p:boldItalic r:id="rId23"/>
    </p:embeddedFont>
    <p:embeddedFont>
      <p:font typeface="Montserrat" pitchFamily="2" charset="0"/>
      <p:regular r:id="rId24"/>
      <p:bold r:id="rId25"/>
      <p:italic r:id="rId26"/>
      <p:boldItalic r:id="rId27"/>
    </p:embeddedFont>
    <p:embeddedFont>
      <p:font typeface="Trebuchet MS" panose="020B0603020202020204" pitchFamily="34" charset="0"/>
      <p:regular r:id="rId28"/>
      <p:bold r:id="rId29"/>
      <p:italic r:id="rId30"/>
      <p:boldItalic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Tahoma" panose="020B0604030504040204" pitchFamily="34" charset="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0" roundtripDataSignature="AMtx7mi5YkfuKFqYyF6b5EupUMAWgh3V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50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1bb26f517d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g11bb26f517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1bac9ab7f9_1_6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g11bac9ab7f9_1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6000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5516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706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5602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36356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9792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4939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4" name="Google Shape;3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185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4"/>
          <p:cNvSpPr txBox="1">
            <a:spLocks noGrp="1"/>
          </p:cNvSpPr>
          <p:nvPr>
            <p:ph type="ctrTitle"/>
          </p:nvPr>
        </p:nvSpPr>
        <p:spPr>
          <a:xfrm>
            <a:off x="1697669" y="3351966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 ExtraBold"/>
              <a:buNone/>
              <a:defRPr sz="4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subTitle" idx="1"/>
          </p:nvPr>
        </p:nvSpPr>
        <p:spPr>
          <a:xfrm>
            <a:off x="1697669" y="4071966"/>
            <a:ext cx="504179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ABAB"/>
              </a:buClr>
              <a:buSzPts val="2800"/>
              <a:buNone/>
              <a:defRPr>
                <a:solidFill>
                  <a:srgbClr val="AEABAB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49810" y="1223962"/>
            <a:ext cx="443865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4"/>
          <p:cNvSpPr/>
          <p:nvPr/>
        </p:nvSpPr>
        <p:spPr>
          <a:xfrm rot="5400000">
            <a:off x="-307571" y="2821864"/>
            <a:ext cx="1446414" cy="831272"/>
          </a:xfrm>
          <a:prstGeom prst="triangle">
            <a:avLst>
              <a:gd name="adj" fmla="val 50000"/>
            </a:avLst>
          </a:prstGeom>
          <a:solidFill>
            <a:srgbClr val="BE2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22;p34"/>
          <p:cNvSpPr txBox="1">
            <a:spLocks noGrp="1"/>
          </p:cNvSpPr>
          <p:nvPr>
            <p:ph type="body" idx="2"/>
          </p:nvPr>
        </p:nvSpPr>
        <p:spPr>
          <a:xfrm>
            <a:off x="1562203" y="1974293"/>
            <a:ext cx="297852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9600"/>
              <a:buNone/>
              <a:defRPr sz="9600" b="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23" name="Google Shape;23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5325" y="5268225"/>
            <a:ext cx="2040576" cy="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2"/>
          <p:cNvSpPr txBox="1">
            <a:spLocks noGrp="1"/>
          </p:cNvSpPr>
          <p:nvPr>
            <p:ph type="title"/>
          </p:nvPr>
        </p:nvSpPr>
        <p:spPr>
          <a:xfrm rot="5400000">
            <a:off x="-1225840" y="1040275"/>
            <a:ext cx="4164099" cy="184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Montserrat Black"/>
              <a:buNone/>
              <a:defRPr sz="6000" b="1">
                <a:solidFill>
                  <a:srgbClr val="C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32"/>
          <p:cNvSpPr txBox="1">
            <a:spLocks noGrp="1"/>
          </p:cNvSpPr>
          <p:nvPr>
            <p:ph type="body" idx="1"/>
          </p:nvPr>
        </p:nvSpPr>
        <p:spPr>
          <a:xfrm>
            <a:off x="2394064" y="2759840"/>
            <a:ext cx="1122220" cy="113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sz="6000" b="1">
                <a:solidFill>
                  <a:srgbClr val="BE2727"/>
                </a:solidFill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sz="4000" b="1">
                <a:solidFill>
                  <a:srgbClr val="BE2727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sz="4000" b="1">
                <a:solidFill>
                  <a:srgbClr val="BE2727"/>
                </a:solidFill>
              </a:defRPr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sz="4000" b="1">
                <a:solidFill>
                  <a:srgbClr val="BE2727"/>
                </a:solidFill>
              </a:defRPr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sz="4000" b="1">
                <a:solidFill>
                  <a:srgbClr val="BE272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2"/>
          <p:cNvSpPr txBox="1">
            <a:spLocks noGrp="1"/>
          </p:cNvSpPr>
          <p:nvPr>
            <p:ph type="body" idx="2"/>
          </p:nvPr>
        </p:nvSpPr>
        <p:spPr>
          <a:xfrm>
            <a:off x="3516284" y="28884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sz="2000" b="1">
                <a:solidFill>
                  <a:srgbClr val="BE2727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body" idx="3"/>
          </p:nvPr>
        </p:nvSpPr>
        <p:spPr>
          <a:xfrm>
            <a:off x="2310942" y="4349625"/>
            <a:ext cx="1205342" cy="113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sz="6000" b="1">
                <a:solidFill>
                  <a:srgbClr val="BE2727"/>
                </a:solidFill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sz="4000" b="1">
                <a:solidFill>
                  <a:srgbClr val="BE2727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sz="4000" b="1">
                <a:solidFill>
                  <a:srgbClr val="BE2727"/>
                </a:solidFill>
              </a:defRPr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sz="4000" b="1">
                <a:solidFill>
                  <a:srgbClr val="BE2727"/>
                </a:solidFill>
              </a:defRPr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sz="4000" b="1">
                <a:solidFill>
                  <a:srgbClr val="BE272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body" idx="4"/>
          </p:nvPr>
        </p:nvSpPr>
        <p:spPr>
          <a:xfrm>
            <a:off x="3516284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sz="2000" b="1">
                <a:solidFill>
                  <a:srgbClr val="BE2727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body" idx="5"/>
          </p:nvPr>
        </p:nvSpPr>
        <p:spPr>
          <a:xfrm>
            <a:off x="7245926" y="2759840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sz="6000" b="1">
                <a:solidFill>
                  <a:srgbClr val="BE2727"/>
                </a:solidFill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sz="4000" b="1">
                <a:solidFill>
                  <a:srgbClr val="BE2727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sz="4000" b="1">
                <a:solidFill>
                  <a:srgbClr val="BE2727"/>
                </a:solidFill>
              </a:defRPr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sz="4000" b="1">
                <a:solidFill>
                  <a:srgbClr val="BE2727"/>
                </a:solidFill>
              </a:defRPr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sz="4000" b="1">
                <a:solidFill>
                  <a:srgbClr val="BE272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body" idx="6"/>
          </p:nvPr>
        </p:nvSpPr>
        <p:spPr>
          <a:xfrm>
            <a:off x="8448502" y="2888427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sz="2000" b="1">
                <a:solidFill>
                  <a:srgbClr val="BE2727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body" idx="7"/>
          </p:nvPr>
        </p:nvSpPr>
        <p:spPr>
          <a:xfrm>
            <a:off x="7245926" y="4349625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sz="6000" b="1">
                <a:solidFill>
                  <a:srgbClr val="BE2727"/>
                </a:solidFill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sz="4000" b="1">
                <a:solidFill>
                  <a:srgbClr val="BE2727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sz="4000" b="1">
                <a:solidFill>
                  <a:srgbClr val="BE2727"/>
                </a:solidFill>
              </a:defRPr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sz="4000" b="1">
                <a:solidFill>
                  <a:srgbClr val="BE2727"/>
                </a:solidFill>
              </a:defRPr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sz="4000" b="1">
                <a:solidFill>
                  <a:srgbClr val="BE2727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32"/>
          <p:cNvSpPr txBox="1">
            <a:spLocks noGrp="1"/>
          </p:cNvSpPr>
          <p:nvPr>
            <p:ph type="body" idx="8"/>
          </p:nvPr>
        </p:nvSpPr>
        <p:spPr>
          <a:xfrm>
            <a:off x="8448502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sz="2000" b="1">
                <a:solidFill>
                  <a:srgbClr val="BE2727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9"/>
          </p:nvPr>
        </p:nvSpPr>
        <p:spPr>
          <a:xfrm>
            <a:off x="3516283" y="3284445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13"/>
          </p:nvPr>
        </p:nvSpPr>
        <p:spPr>
          <a:xfrm>
            <a:off x="3516283" y="4874231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body" idx="14"/>
          </p:nvPr>
        </p:nvSpPr>
        <p:spPr>
          <a:xfrm>
            <a:off x="8448501" y="3284444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body" idx="15"/>
          </p:nvPr>
        </p:nvSpPr>
        <p:spPr>
          <a:xfrm>
            <a:off x="8448500" y="48937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9" name="Google Shape;39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5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sz="2800" b="1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2" name="Google Shape;42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5"/>
          <p:cNvSpPr txBox="1">
            <a:spLocks noGrp="1"/>
          </p:cNvSpPr>
          <p:nvPr>
            <p:ph type="sldNum" idx="12"/>
          </p:nvPr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45"/>
          <p:cNvSpPr txBox="1">
            <a:spLocks noGrp="1"/>
          </p:cNvSpPr>
          <p:nvPr>
            <p:ph type="body" idx="1"/>
          </p:nvPr>
        </p:nvSpPr>
        <p:spPr>
          <a:xfrm>
            <a:off x="838200" y="1680599"/>
            <a:ext cx="10641676" cy="504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116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marL="914400" lvl="1" indent="-31089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Courier New"/>
              <a:buChar char="o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6" name="Google Shape;46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11667" y="-83672"/>
            <a:ext cx="12640676" cy="701787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0"/>
          <p:cNvSpPr txBox="1">
            <a:spLocks noGrp="1"/>
          </p:cNvSpPr>
          <p:nvPr>
            <p:ph type="ctrTitle"/>
          </p:nvPr>
        </p:nvSpPr>
        <p:spPr>
          <a:xfrm>
            <a:off x="279991" y="3969209"/>
            <a:ext cx="9144000" cy="146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0"/>
          <p:cNvSpPr txBox="1">
            <a:spLocks noGrp="1"/>
          </p:cNvSpPr>
          <p:nvPr>
            <p:ph type="subTitle" idx="1"/>
          </p:nvPr>
        </p:nvSpPr>
        <p:spPr>
          <a:xfrm>
            <a:off x="279991" y="543362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1" name="Google Shape;5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2381" y="-123349"/>
            <a:ext cx="7133810" cy="709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000" y="322051"/>
            <a:ext cx="3225201" cy="15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 txBox="1">
            <a:spLocks noGrp="1"/>
          </p:cNvSpPr>
          <p:nvPr>
            <p:ph type="title"/>
          </p:nvPr>
        </p:nvSpPr>
        <p:spPr>
          <a:xfrm>
            <a:off x="1974966" y="2521987"/>
            <a:ext cx="807635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Montserrat Black"/>
              <a:buNone/>
              <a:defRPr sz="6000" b="1">
                <a:solidFill>
                  <a:srgbClr val="C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185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1989667" y="3847550"/>
            <a:ext cx="807635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sz="32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35"/>
          <p:cNvSpPr/>
          <p:nvPr/>
        </p:nvSpPr>
        <p:spPr>
          <a:xfrm rot="10800000">
            <a:off x="5289935" y="1559948"/>
            <a:ext cx="1446414" cy="831272"/>
          </a:xfrm>
          <a:prstGeom prst="triangle">
            <a:avLst>
              <a:gd name="adj" fmla="val 50000"/>
            </a:avLst>
          </a:prstGeom>
          <a:solidFill>
            <a:srgbClr val="BE2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" name="Google Shape;5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2013" y="5255650"/>
            <a:ext cx="2040576" cy="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6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36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sz="2800" b="1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 with Caption">
  <p:cSld name="2_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>
            <a:spLocks noGrp="1"/>
          </p:cNvSpPr>
          <p:nvPr>
            <p:ph type="body" idx="1"/>
          </p:nvPr>
        </p:nvSpPr>
        <p:spPr>
          <a:xfrm>
            <a:off x="3818313" y="3901864"/>
            <a:ext cx="4555374" cy="2169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67" name="Google Shape;67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7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37"/>
          <p:cNvSpPr txBox="1">
            <a:spLocks noGrp="1"/>
          </p:cNvSpPr>
          <p:nvPr>
            <p:ph type="body" idx="2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  <a:defRPr sz="3200" b="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71" name="Google Shape;7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38200" y="3858704"/>
            <a:ext cx="2860964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9"/>
          <p:cNvSpPr txBox="1">
            <a:spLocks noGrp="1"/>
          </p:cNvSpPr>
          <p:nvPr>
            <p:ph type="body" idx="1"/>
          </p:nvPr>
        </p:nvSpPr>
        <p:spPr>
          <a:xfrm>
            <a:off x="746918" y="3882043"/>
            <a:ext cx="3816769" cy="2169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75" name="Google Shape;75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9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39"/>
          <p:cNvSpPr txBox="1">
            <a:spLocks noGrp="1"/>
          </p:cNvSpPr>
          <p:nvPr>
            <p:ph type="body" idx="2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  <a:defRPr sz="2800" b="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79" name="Google Shape;79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59085"/>
            <a:ext cx="12534822" cy="69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0"/>
          <p:cNvSpPr txBox="1">
            <a:spLocks noGrp="1"/>
          </p:cNvSpPr>
          <p:nvPr>
            <p:ph type="ctrTitle"/>
          </p:nvPr>
        </p:nvSpPr>
        <p:spPr>
          <a:xfrm>
            <a:off x="2594340" y="3145331"/>
            <a:ext cx="7558961" cy="151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subTitle" idx="1"/>
          </p:nvPr>
        </p:nvSpPr>
        <p:spPr>
          <a:xfrm>
            <a:off x="2594340" y="4372481"/>
            <a:ext cx="7558961" cy="1300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4" name="Google Shape;8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4571" y="1362499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241803" y="1422897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61198" y="4951700"/>
            <a:ext cx="2012426" cy="9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1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" name="Google Shape;9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59085"/>
            <a:ext cx="12534822" cy="69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1"/>
          <p:cNvSpPr txBox="1">
            <a:spLocks noGrp="1"/>
          </p:cNvSpPr>
          <p:nvPr>
            <p:ph type="ctrTitle"/>
          </p:nvPr>
        </p:nvSpPr>
        <p:spPr>
          <a:xfrm>
            <a:off x="2594340" y="3145331"/>
            <a:ext cx="7558961" cy="151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subTitle" idx="1"/>
          </p:nvPr>
        </p:nvSpPr>
        <p:spPr>
          <a:xfrm>
            <a:off x="2594340" y="4372481"/>
            <a:ext cx="7558961" cy="1300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96" name="Google Shape;9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4571" y="1362499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241803" y="1422897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10423" y="2015275"/>
            <a:ext cx="2012426" cy="9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713" y="0"/>
            <a:ext cx="12352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3"/>
          <p:cNvSpPr txBox="1">
            <a:spLocks noGrp="1"/>
          </p:cNvSpPr>
          <p:nvPr>
            <p:ph type="title"/>
          </p:nvPr>
        </p:nvSpPr>
        <p:spPr>
          <a:xfrm rot="5400000">
            <a:off x="-1225840" y="973773"/>
            <a:ext cx="4164099" cy="184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Black"/>
              <a:buNone/>
              <a:defRPr sz="6000" b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33"/>
          <p:cNvSpPr txBox="1">
            <a:spLocks noGrp="1"/>
          </p:cNvSpPr>
          <p:nvPr>
            <p:ph type="body" idx="1"/>
          </p:nvPr>
        </p:nvSpPr>
        <p:spPr>
          <a:xfrm>
            <a:off x="2394064" y="2759840"/>
            <a:ext cx="1122220" cy="113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>
                <a:solidFill>
                  <a:schemeClr val="lt1"/>
                </a:solidFill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33"/>
          <p:cNvSpPr txBox="1">
            <a:spLocks noGrp="1"/>
          </p:cNvSpPr>
          <p:nvPr>
            <p:ph type="body" idx="2"/>
          </p:nvPr>
        </p:nvSpPr>
        <p:spPr>
          <a:xfrm>
            <a:off x="3516284" y="28884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33"/>
          <p:cNvSpPr txBox="1">
            <a:spLocks noGrp="1"/>
          </p:cNvSpPr>
          <p:nvPr>
            <p:ph type="body" idx="3"/>
          </p:nvPr>
        </p:nvSpPr>
        <p:spPr>
          <a:xfrm>
            <a:off x="2310942" y="4349625"/>
            <a:ext cx="1205342" cy="113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>
                <a:solidFill>
                  <a:schemeClr val="lt1"/>
                </a:solidFill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33"/>
          <p:cNvSpPr txBox="1">
            <a:spLocks noGrp="1"/>
          </p:cNvSpPr>
          <p:nvPr>
            <p:ph type="body" idx="4"/>
          </p:nvPr>
        </p:nvSpPr>
        <p:spPr>
          <a:xfrm>
            <a:off x="3516284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33"/>
          <p:cNvSpPr txBox="1">
            <a:spLocks noGrp="1"/>
          </p:cNvSpPr>
          <p:nvPr>
            <p:ph type="body" idx="5"/>
          </p:nvPr>
        </p:nvSpPr>
        <p:spPr>
          <a:xfrm>
            <a:off x="7245926" y="2759840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>
                <a:solidFill>
                  <a:schemeClr val="lt1"/>
                </a:solidFill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33"/>
          <p:cNvSpPr txBox="1">
            <a:spLocks noGrp="1"/>
          </p:cNvSpPr>
          <p:nvPr>
            <p:ph type="body" idx="6"/>
          </p:nvPr>
        </p:nvSpPr>
        <p:spPr>
          <a:xfrm>
            <a:off x="8448502" y="2888427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33"/>
          <p:cNvSpPr txBox="1">
            <a:spLocks noGrp="1"/>
          </p:cNvSpPr>
          <p:nvPr>
            <p:ph type="body" idx="7"/>
          </p:nvPr>
        </p:nvSpPr>
        <p:spPr>
          <a:xfrm>
            <a:off x="7245926" y="4349625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>
                <a:solidFill>
                  <a:schemeClr val="lt1"/>
                </a:solidFill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33"/>
          <p:cNvSpPr txBox="1">
            <a:spLocks noGrp="1"/>
          </p:cNvSpPr>
          <p:nvPr>
            <p:ph type="body" idx="8"/>
          </p:nvPr>
        </p:nvSpPr>
        <p:spPr>
          <a:xfrm>
            <a:off x="8448502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33"/>
          <p:cNvSpPr txBox="1">
            <a:spLocks noGrp="1"/>
          </p:cNvSpPr>
          <p:nvPr>
            <p:ph type="body" idx="9"/>
          </p:nvPr>
        </p:nvSpPr>
        <p:spPr>
          <a:xfrm>
            <a:off x="3516283" y="3284445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33"/>
          <p:cNvSpPr txBox="1">
            <a:spLocks noGrp="1"/>
          </p:cNvSpPr>
          <p:nvPr>
            <p:ph type="body" idx="13"/>
          </p:nvPr>
        </p:nvSpPr>
        <p:spPr>
          <a:xfrm>
            <a:off x="3516283" y="4874231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33"/>
          <p:cNvSpPr txBox="1">
            <a:spLocks noGrp="1"/>
          </p:cNvSpPr>
          <p:nvPr>
            <p:ph type="body" idx="14"/>
          </p:nvPr>
        </p:nvSpPr>
        <p:spPr>
          <a:xfrm>
            <a:off x="8448501" y="3284444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33"/>
          <p:cNvSpPr txBox="1">
            <a:spLocks noGrp="1"/>
          </p:cNvSpPr>
          <p:nvPr>
            <p:ph type="body" idx="15"/>
          </p:nvPr>
        </p:nvSpPr>
        <p:spPr>
          <a:xfrm>
            <a:off x="8448500" y="48937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5" name="Google Shape;11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55475" y="328227"/>
            <a:ext cx="1809802" cy="88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7"/>
          <p:cNvSpPr txBox="1">
            <a:spLocks noGrp="1"/>
          </p:cNvSpPr>
          <p:nvPr>
            <p:ph type="body" idx="1"/>
          </p:nvPr>
        </p:nvSpPr>
        <p:spPr>
          <a:xfrm>
            <a:off x="838199" y="3672580"/>
            <a:ext cx="3932237" cy="1405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118" name="Google Shape;11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7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47"/>
          <p:cNvSpPr txBox="1">
            <a:spLocks noGrp="1"/>
          </p:cNvSpPr>
          <p:nvPr>
            <p:ph type="body" idx="2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  <a:defRPr sz="2800" b="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47"/>
          <p:cNvSpPr txBox="1">
            <a:spLocks noGrp="1"/>
          </p:cNvSpPr>
          <p:nvPr>
            <p:ph type="body" idx="3"/>
          </p:nvPr>
        </p:nvSpPr>
        <p:spPr>
          <a:xfrm>
            <a:off x="5170488" y="1346200"/>
            <a:ext cx="6375400" cy="488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3" name="Google Shape;123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4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4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8" name="Google Shape;128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5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g128e061f2de_0_109"/>
          <p:cNvCxnSpPr/>
          <p:nvPr/>
        </p:nvCxnSpPr>
        <p:spPr>
          <a:xfrm>
            <a:off x="575800" y="6322471"/>
            <a:ext cx="11040300" cy="0"/>
          </a:xfrm>
          <a:prstGeom prst="straightConnector1">
            <a:avLst/>
          </a:prstGeom>
          <a:noFill/>
          <a:ln w="9525" cap="flat" cmpd="sng">
            <a:solidFill>
              <a:srgbClr val="C6C5C5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45" name="Google Shape;145;g128e061f2de_0_109"/>
          <p:cNvSpPr txBox="1">
            <a:spLocks noGrp="1"/>
          </p:cNvSpPr>
          <p:nvPr>
            <p:ph type="title"/>
          </p:nvPr>
        </p:nvSpPr>
        <p:spPr>
          <a:xfrm>
            <a:off x="415600" y="284933"/>
            <a:ext cx="113607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3700"/>
              <a:buFont typeface="Trebuchet MS"/>
              <a:buNone/>
              <a:defRPr>
                <a:solidFill>
                  <a:srgbClr val="56657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cxnSp>
        <p:nvCxnSpPr>
          <p:cNvPr id="146" name="Google Shape;146;g128e061f2de_0_109"/>
          <p:cNvCxnSpPr/>
          <p:nvPr/>
        </p:nvCxnSpPr>
        <p:spPr>
          <a:xfrm>
            <a:off x="575800" y="1002333"/>
            <a:ext cx="11040300" cy="0"/>
          </a:xfrm>
          <a:prstGeom prst="straightConnector1">
            <a:avLst/>
          </a:prstGeom>
          <a:noFill/>
          <a:ln w="9525" cap="flat" cmpd="sng">
            <a:solidFill>
              <a:srgbClr val="C6C5C5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47" name="Google Shape;147;g128e061f2de_0_109">
            <a:hlinkClick r:id="" action="ppaction://hlinkshowjump?jump=previousslide"/>
          </p:cNvPr>
          <p:cNvSpPr/>
          <p:nvPr/>
        </p:nvSpPr>
        <p:spPr>
          <a:xfrm rot="2700000">
            <a:off x="11348840" y="6420393"/>
            <a:ext cx="113279" cy="113279"/>
          </a:xfrm>
          <a:prstGeom prst="rtTriangle">
            <a:avLst/>
          </a:prstGeom>
          <a:solidFill>
            <a:srgbClr val="C6C5C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128e061f2de_0_109"/>
          <p:cNvSpPr/>
          <p:nvPr/>
        </p:nvSpPr>
        <p:spPr>
          <a:xfrm>
            <a:off x="579075" y="6315167"/>
            <a:ext cx="506400" cy="232800"/>
          </a:xfrm>
          <a:prstGeom prst="rect">
            <a:avLst/>
          </a:prstGeom>
          <a:solidFill>
            <a:srgbClr val="C6C5C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128e061f2de_0_109">
            <a:hlinkClick r:id="" action="ppaction://hlinkshowjump?jump=nextslide"/>
          </p:cNvPr>
          <p:cNvSpPr/>
          <p:nvPr/>
        </p:nvSpPr>
        <p:spPr>
          <a:xfrm rot="-8100000">
            <a:off x="11508840" y="6420194"/>
            <a:ext cx="113279" cy="113279"/>
          </a:xfrm>
          <a:prstGeom prst="rtTriangle">
            <a:avLst/>
          </a:prstGeom>
          <a:solidFill>
            <a:srgbClr val="C6C5C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128e061f2de_0_109"/>
          <p:cNvSpPr txBox="1">
            <a:spLocks noGrp="1"/>
          </p:cNvSpPr>
          <p:nvPr>
            <p:ph type="sldNum" idx="12"/>
          </p:nvPr>
        </p:nvSpPr>
        <p:spPr>
          <a:xfrm>
            <a:off x="579067" y="6315167"/>
            <a:ext cx="5064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g128e061f2de_0_109"/>
          <p:cNvSpPr txBox="1"/>
          <p:nvPr/>
        </p:nvSpPr>
        <p:spPr>
          <a:xfrm>
            <a:off x="9204248" y="6246912"/>
            <a:ext cx="20436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C6C5C5"/>
                </a:solidFill>
                <a:latin typeface="Arial"/>
                <a:ea typeface="Arial"/>
                <a:cs typeface="Arial"/>
                <a:sym typeface="Arial"/>
              </a:rPr>
              <a:t>www.companyname.com</a:t>
            </a:r>
            <a:endParaRPr sz="1200" b="0" i="0" u="none" strike="noStrike" cap="none">
              <a:solidFill>
                <a:srgbClr val="C6C5C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sz="4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9"/>
          <p:cNvSpPr txBox="1"/>
          <p:nvPr/>
        </p:nvSpPr>
        <p:spPr>
          <a:xfrm>
            <a:off x="1981200" y="6338813"/>
            <a:ext cx="7122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2022 By Rikkei Academy - Rikkei Education -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1bb26f517d_0_1"/>
          <p:cNvSpPr txBox="1">
            <a:spLocks noGrp="1"/>
          </p:cNvSpPr>
          <p:nvPr>
            <p:ph type="ctrTitle"/>
          </p:nvPr>
        </p:nvSpPr>
        <p:spPr>
          <a:xfrm>
            <a:off x="1697674" y="2660574"/>
            <a:ext cx="8538008" cy="9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 ExtraBold"/>
              <a:buNone/>
            </a:pPr>
            <a:r>
              <a:rPr lang="en-US" sz="3000" dirty="0" smtClean="0"/>
              <a:t>Index </a:t>
            </a:r>
            <a:r>
              <a:rPr lang="en-US" sz="3000" dirty="0" smtClean="0"/>
              <a:t>- </a:t>
            </a:r>
            <a:r>
              <a:rPr lang="en-US" sz="3000" dirty="0" smtClean="0"/>
              <a:t>View</a:t>
            </a:r>
            <a:endParaRPr sz="3000" dirty="0"/>
          </a:p>
        </p:txBody>
      </p:sp>
      <p:sp>
        <p:nvSpPr>
          <p:cNvPr id="157" name="Google Shape;157;g11bb26f517d_0_1"/>
          <p:cNvSpPr txBox="1">
            <a:spLocks noGrp="1"/>
          </p:cNvSpPr>
          <p:nvPr>
            <p:ph type="subTitle" idx="1"/>
          </p:nvPr>
        </p:nvSpPr>
        <p:spPr>
          <a:xfrm>
            <a:off x="1697669" y="4071966"/>
            <a:ext cx="50418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rPr lang="en-US" sz="1800" dirty="0" err="1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Phiên</a:t>
            </a:r>
            <a:r>
              <a:rPr lang="en-US" sz="18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dirty="0" err="1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bản</a:t>
            </a:r>
            <a:r>
              <a:rPr lang="en-US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1800" smtClean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3.0</a:t>
            </a:r>
            <a:endParaRPr/>
          </a:p>
        </p:txBody>
      </p:sp>
      <p:sp>
        <p:nvSpPr>
          <p:cNvPr id="158" name="Google Shape;158;g11bb26f517d_0_1"/>
          <p:cNvSpPr txBox="1">
            <a:spLocks noGrp="1"/>
          </p:cNvSpPr>
          <p:nvPr>
            <p:ph type="body" idx="2"/>
          </p:nvPr>
        </p:nvSpPr>
        <p:spPr>
          <a:xfrm>
            <a:off x="1562200" y="1974300"/>
            <a:ext cx="815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9600"/>
              <a:buNone/>
            </a:pPr>
            <a:r>
              <a:rPr lang="en-US" sz="3000" dirty="0"/>
              <a:t>Session </a:t>
            </a:r>
            <a:r>
              <a:rPr lang="en-US" sz="3000" dirty="0" smtClean="0"/>
              <a:t>09:</a:t>
            </a:r>
            <a:endParaRPr sz="3000" dirty="0"/>
          </a:p>
        </p:txBody>
      </p:sp>
      <p:sp>
        <p:nvSpPr>
          <p:cNvPr id="159" name="Google Shape;159;g11bb26f517d_0_1"/>
          <p:cNvSpPr txBox="1"/>
          <p:nvPr/>
        </p:nvSpPr>
        <p:spPr>
          <a:xfrm>
            <a:off x="1697668" y="3664241"/>
            <a:ext cx="671854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800" dirty="0">
                <a:solidFill>
                  <a:srgbClr val="595959"/>
                </a:solidFill>
                <a:latin typeface="Montserrat" pitchFamily="2" charset="0"/>
                <a:ea typeface="Montserrat"/>
                <a:cs typeface="Montserrat"/>
                <a:sym typeface="Montserrat"/>
              </a:rPr>
              <a:t>Module 03: </a:t>
            </a:r>
            <a:r>
              <a:rPr lang="en-US" sz="1800" dirty="0">
                <a:solidFill>
                  <a:srgbClr val="595959"/>
                </a:solidFill>
                <a:latin typeface="Montserrat" pitchFamily="2" charset="0"/>
              </a:rPr>
              <a:t>Database &amp; Web Application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1bac9ab7f9_1_682"/>
          <p:cNvSpPr txBox="1">
            <a:spLocks noGrp="1"/>
          </p:cNvSpPr>
          <p:nvPr>
            <p:ph type="body" idx="1"/>
          </p:nvPr>
        </p:nvSpPr>
        <p:spPr>
          <a:xfrm>
            <a:off x="1651450" y="1111600"/>
            <a:ext cx="9767400" cy="50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10000"/>
              </a:lnSpc>
              <a:spcBef>
                <a:spcPts val="2600"/>
              </a:spcBef>
              <a:spcAft>
                <a:spcPts val="0"/>
              </a:spcAft>
              <a:buClr>
                <a:srgbClr val="333333"/>
              </a:buClr>
              <a:buSzPts val="2400"/>
              <a:buAutoNum type="arabicPeriod"/>
            </a:pPr>
            <a:r>
              <a:rPr lang="en-US" sz="2400" dirty="0" err="1" smtClean="0">
                <a:solidFill>
                  <a:srgbClr val="333333"/>
                </a:solidFill>
              </a:rPr>
              <a:t>Chỉ</a:t>
            </a:r>
            <a:r>
              <a:rPr lang="en-US" sz="2400" dirty="0" smtClean="0">
                <a:solidFill>
                  <a:srgbClr val="333333"/>
                </a:solidFill>
              </a:rPr>
              <a:t> </a:t>
            </a:r>
            <a:r>
              <a:rPr lang="en-US" sz="2400" dirty="0" err="1" smtClean="0">
                <a:solidFill>
                  <a:srgbClr val="333333"/>
                </a:solidFill>
              </a:rPr>
              <a:t>mục</a:t>
            </a:r>
            <a:r>
              <a:rPr lang="en-US" sz="2400" dirty="0" smtClean="0">
                <a:solidFill>
                  <a:srgbClr val="333333"/>
                </a:solidFill>
              </a:rPr>
              <a:t> </a:t>
            </a:r>
            <a:r>
              <a:rPr lang="en-US" sz="2400" dirty="0" smtClean="0">
                <a:solidFill>
                  <a:srgbClr val="333333"/>
                </a:solidFill>
              </a:rPr>
              <a:t>– Index</a:t>
            </a:r>
          </a:p>
          <a:p>
            <a:pPr marL="457200" lvl="0" indent="-381000" algn="l" rtl="0">
              <a:lnSpc>
                <a:spcPct val="110000"/>
              </a:lnSpc>
              <a:spcBef>
                <a:spcPts val="2600"/>
              </a:spcBef>
              <a:spcAft>
                <a:spcPts val="0"/>
              </a:spcAft>
              <a:buClr>
                <a:srgbClr val="333333"/>
              </a:buClr>
              <a:buSzPts val="2400"/>
              <a:buAutoNum type="arabicPeriod"/>
            </a:pPr>
            <a:r>
              <a:rPr lang="en-US" sz="2400" dirty="0" err="1" smtClean="0">
                <a:solidFill>
                  <a:srgbClr val="333333"/>
                </a:solidFill>
              </a:rPr>
              <a:t>Khung</a:t>
            </a:r>
            <a:r>
              <a:rPr lang="en-US" sz="2400" dirty="0" smtClean="0">
                <a:solidFill>
                  <a:srgbClr val="333333"/>
                </a:solidFill>
              </a:rPr>
              <a:t> </a:t>
            </a:r>
            <a:r>
              <a:rPr lang="en-US" sz="2400" dirty="0" err="1" smtClean="0">
                <a:solidFill>
                  <a:srgbClr val="333333"/>
                </a:solidFill>
              </a:rPr>
              <a:t>nhìn</a:t>
            </a:r>
            <a:r>
              <a:rPr lang="en-US" sz="2400" dirty="0" smtClean="0">
                <a:solidFill>
                  <a:srgbClr val="333333"/>
                </a:solidFill>
              </a:rPr>
              <a:t> - View</a:t>
            </a:r>
            <a:endParaRPr dirty="0"/>
          </a:p>
        </p:txBody>
      </p:sp>
      <p:sp>
        <p:nvSpPr>
          <p:cNvPr id="165" name="Google Shape;165;g11bac9ab7f9_1_682"/>
          <p:cNvSpPr txBox="1">
            <a:spLocks noGrp="1"/>
          </p:cNvSpPr>
          <p:nvPr>
            <p:ph type="title"/>
          </p:nvPr>
        </p:nvSpPr>
        <p:spPr>
          <a:xfrm rot="5400000">
            <a:off x="-1686375" y="1500953"/>
            <a:ext cx="5085300" cy="18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Montserrat Black"/>
              <a:buNone/>
            </a:pPr>
            <a:r>
              <a:rPr lang="en-US" dirty="0"/>
              <a:t> NỘI DUNG</a:t>
            </a:r>
            <a:endParaRPr dirty="0"/>
          </a:p>
        </p:txBody>
      </p:sp>
      <p:pic>
        <p:nvPicPr>
          <p:cNvPr id="166" name="Google Shape;166;g11bac9ab7f9_1_6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63816" y="5111676"/>
            <a:ext cx="3515280" cy="3492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z="3200" spc="-80" dirty="0" err="1"/>
              <a:t>Khái</a:t>
            </a:r>
            <a:r>
              <a:rPr lang="en-US" sz="3200" spc="-229" dirty="0"/>
              <a:t> </a:t>
            </a:r>
            <a:r>
              <a:rPr lang="en-US" sz="3200" dirty="0" err="1"/>
              <a:t>niệm</a:t>
            </a:r>
            <a:r>
              <a:rPr lang="en-US" sz="3200" spc="5" dirty="0"/>
              <a:t> </a:t>
            </a:r>
            <a:r>
              <a:rPr lang="en-US" sz="3200" spc="-95" dirty="0" err="1"/>
              <a:t>chỉ</a:t>
            </a:r>
            <a:r>
              <a:rPr lang="en-US" sz="3200" spc="-240" dirty="0"/>
              <a:t> </a:t>
            </a:r>
            <a:r>
              <a:rPr lang="en-US" sz="3200" spc="-10" dirty="0" err="1"/>
              <a:t>mục</a:t>
            </a:r>
            <a:r>
              <a:rPr lang="en-US" sz="3200" spc="-165" dirty="0"/>
              <a:t> </a:t>
            </a:r>
            <a:r>
              <a:rPr lang="en-US" sz="3200" dirty="0"/>
              <a:t>-</a:t>
            </a:r>
            <a:r>
              <a:rPr lang="en-US" sz="3200" spc="375" dirty="0"/>
              <a:t> </a:t>
            </a:r>
            <a:r>
              <a:rPr lang="en-US" sz="3200" spc="-10" dirty="0"/>
              <a:t>index</a:t>
            </a:r>
            <a:endParaRPr sz="3200" dirty="0"/>
          </a:p>
        </p:txBody>
      </p:sp>
      <p:sp>
        <p:nvSpPr>
          <p:cNvPr id="5" name="object 6"/>
          <p:cNvSpPr txBox="1"/>
          <p:nvPr/>
        </p:nvSpPr>
        <p:spPr>
          <a:xfrm>
            <a:off x="916635" y="1953894"/>
            <a:ext cx="10499510" cy="3621376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0029" marR="137160" indent="-227329">
              <a:lnSpc>
                <a:spcPts val="3000"/>
              </a:lnSpc>
              <a:spcBef>
                <a:spcPts val="495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Montserrat" pitchFamily="2" charset="0"/>
              </a:rPr>
              <a:t>Các bản ghi được lưu trữ vào trong bảng theo đúng thứ tự </a:t>
            </a:r>
            <a:r>
              <a:rPr sz="2000" dirty="0" err="1">
                <a:latin typeface="Montserrat" pitchFamily="2" charset="0"/>
              </a:rPr>
              <a:t>như</a:t>
            </a:r>
            <a:r>
              <a:rPr sz="2000" dirty="0">
                <a:latin typeface="Montserrat" pitchFamily="2" charset="0"/>
              </a:rPr>
              <a:t> </a:t>
            </a:r>
            <a:r>
              <a:rPr sz="2000" dirty="0" err="1" smtClean="0">
                <a:latin typeface="Montserrat" pitchFamily="2" charset="0"/>
              </a:rPr>
              <a:t>khi</a:t>
            </a:r>
            <a:r>
              <a:rPr sz="2000" dirty="0" smtClean="0">
                <a:latin typeface="Montserrat" pitchFamily="2" charset="0"/>
              </a:rPr>
              <a:t> </a:t>
            </a:r>
            <a:r>
              <a:rPr sz="2000" dirty="0">
                <a:latin typeface="Montserrat" pitchFamily="2" charset="0"/>
              </a:rPr>
              <a:t>nhập vào. Do đó có thể dữ liệu này không được sắp xếp.</a:t>
            </a:r>
          </a:p>
          <a:p>
            <a:pPr marL="240029" marR="398780" indent="-227329">
              <a:lnSpc>
                <a:spcPts val="3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Montserrat" pitchFamily="2" charset="0"/>
              </a:rPr>
              <a:t>Khó khăn: Khi muốn tìm kiếm dữ liệu trên bảng cần phải </a:t>
            </a:r>
            <a:r>
              <a:rPr sz="2000" dirty="0" err="1">
                <a:latin typeface="Montserrat" pitchFamily="2" charset="0"/>
              </a:rPr>
              <a:t>quét</a:t>
            </a:r>
            <a:r>
              <a:rPr sz="2000" dirty="0">
                <a:latin typeface="Montserrat" pitchFamily="2" charset="0"/>
              </a:rPr>
              <a:t> </a:t>
            </a:r>
            <a:r>
              <a:rPr sz="2000" dirty="0" err="1" smtClean="0">
                <a:latin typeface="Montserrat" pitchFamily="2" charset="0"/>
              </a:rPr>
              <a:t>toàn</a:t>
            </a:r>
            <a:r>
              <a:rPr sz="2000" dirty="0" smtClean="0">
                <a:latin typeface="Montserrat" pitchFamily="2" charset="0"/>
              </a:rPr>
              <a:t> </a:t>
            </a:r>
            <a:r>
              <a:rPr sz="2000" dirty="0" err="1" smtClean="0">
                <a:latin typeface="Montserrat" pitchFamily="2" charset="0"/>
              </a:rPr>
              <a:t>bộ</a:t>
            </a:r>
            <a:r>
              <a:rPr lang="en-US" sz="2000" dirty="0">
                <a:latin typeface="Montserrat" pitchFamily="2" charset="0"/>
              </a:rPr>
              <a:t> </a:t>
            </a:r>
            <a:r>
              <a:rPr sz="2000" dirty="0" err="1" smtClean="0">
                <a:latin typeface="Montserrat" pitchFamily="2" charset="0"/>
              </a:rPr>
              <a:t>bảng</a:t>
            </a:r>
            <a:r>
              <a:rPr lang="en-US" sz="2000" dirty="0" smtClean="0">
                <a:latin typeface="Montserrat" pitchFamily="2" charset="0"/>
              </a:rPr>
              <a:t> </a:t>
            </a:r>
            <a:r>
              <a:rPr sz="2000" dirty="0" smtClean="0">
                <a:latin typeface="Montserrat" pitchFamily="2" charset="0"/>
              </a:rPr>
              <a:t>. </a:t>
            </a:r>
            <a:r>
              <a:rPr sz="2000" dirty="0" err="1" smtClean="0">
                <a:latin typeface="Montserrat" pitchFamily="2" charset="0"/>
              </a:rPr>
              <a:t>Điều</a:t>
            </a:r>
            <a:r>
              <a:rPr sz="2000" dirty="0" smtClean="0">
                <a:latin typeface="Montserrat" pitchFamily="2" charset="0"/>
              </a:rPr>
              <a:t> </a:t>
            </a:r>
            <a:r>
              <a:rPr sz="2000" dirty="0">
                <a:latin typeface="Montserrat" pitchFamily="2" charset="0"/>
              </a:rPr>
              <a:t>này làm chậm tốc độ thực thi truy vấn.</a:t>
            </a:r>
          </a:p>
          <a:p>
            <a:pPr marL="240029" marR="5080" indent="-227329">
              <a:lnSpc>
                <a:spcPts val="300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Montserrat" pitchFamily="2" charset="0"/>
              </a:rPr>
              <a:t>Việc tìm kiếm có thể được trợ giúp nhiều nếu dữ liệu đựơc </a:t>
            </a:r>
            <a:r>
              <a:rPr sz="2000" dirty="0" err="1">
                <a:latin typeface="Montserrat" pitchFamily="2" charset="0"/>
              </a:rPr>
              <a:t>chứa</a:t>
            </a:r>
            <a:r>
              <a:rPr sz="2000" dirty="0">
                <a:latin typeface="Montserrat" pitchFamily="2" charset="0"/>
              </a:rPr>
              <a:t> </a:t>
            </a:r>
            <a:r>
              <a:rPr sz="2000" dirty="0" err="1" smtClean="0">
                <a:latin typeface="Montserrat" pitchFamily="2" charset="0"/>
              </a:rPr>
              <a:t>trong</a:t>
            </a:r>
            <a:r>
              <a:rPr sz="2000" dirty="0" smtClean="0">
                <a:latin typeface="Montserrat" pitchFamily="2" charset="0"/>
              </a:rPr>
              <a:t> </a:t>
            </a:r>
            <a:r>
              <a:rPr sz="2000" dirty="0">
                <a:latin typeface="Montserrat" pitchFamily="2" charset="0"/>
              </a:rPr>
              <a:t>các khối được đánh chỉ mục (index).</a:t>
            </a:r>
          </a:p>
          <a:p>
            <a:pPr marL="240029" marR="215900" indent="-227329">
              <a:lnSpc>
                <a:spcPts val="3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Montserrat" pitchFamily="2" charset="0"/>
              </a:rPr>
              <a:t>Khi một chỉ mục được tạo ra trên bảng, chỉ mục sẽ tạo nên </a:t>
            </a:r>
            <a:r>
              <a:rPr sz="2000" dirty="0" err="1">
                <a:latin typeface="Montserrat" pitchFamily="2" charset="0"/>
              </a:rPr>
              <a:t>thứ</a:t>
            </a:r>
            <a:r>
              <a:rPr sz="2000" dirty="0">
                <a:latin typeface="Montserrat" pitchFamily="2" charset="0"/>
              </a:rPr>
              <a:t> </a:t>
            </a:r>
            <a:r>
              <a:rPr sz="2000" dirty="0" err="1" smtClean="0">
                <a:latin typeface="Montserrat" pitchFamily="2" charset="0"/>
              </a:rPr>
              <a:t>tự</a:t>
            </a:r>
            <a:r>
              <a:rPr sz="2000" dirty="0" smtClean="0">
                <a:latin typeface="Montserrat" pitchFamily="2" charset="0"/>
              </a:rPr>
              <a:t> </a:t>
            </a:r>
            <a:r>
              <a:rPr sz="2000" dirty="0">
                <a:latin typeface="Montserrat" pitchFamily="2" charset="0"/>
              </a:rPr>
              <a:t>cho các hàng dữ liệu hay các bản ghi trong bảng đó.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pc="-85" dirty="0" err="1"/>
              <a:t>Khái</a:t>
            </a:r>
            <a:r>
              <a:rPr lang="en-US" spc="-225" dirty="0"/>
              <a:t> </a:t>
            </a:r>
            <a:r>
              <a:rPr lang="en-US" dirty="0" err="1"/>
              <a:t>niệm</a:t>
            </a:r>
            <a:r>
              <a:rPr lang="en-US" spc="-15" dirty="0"/>
              <a:t> </a:t>
            </a:r>
            <a:r>
              <a:rPr lang="en-US" spc="-100" dirty="0" err="1"/>
              <a:t>chỉ</a:t>
            </a:r>
            <a:r>
              <a:rPr lang="en-US" spc="-240" dirty="0"/>
              <a:t> </a:t>
            </a:r>
            <a:r>
              <a:rPr lang="en-US" spc="-20" dirty="0" err="1"/>
              <a:t>mục</a:t>
            </a:r>
            <a:r>
              <a:rPr lang="en-US" spc="-160" dirty="0"/>
              <a:t> </a:t>
            </a:r>
            <a:r>
              <a:rPr lang="en-US" spc="-30" dirty="0"/>
              <a:t>–</a:t>
            </a:r>
            <a:r>
              <a:rPr lang="en-US" spc="-495" dirty="0"/>
              <a:t> </a:t>
            </a:r>
            <a:r>
              <a:rPr lang="en-US" dirty="0" err="1"/>
              <a:t>Ví</a:t>
            </a:r>
            <a:r>
              <a:rPr lang="en-US" spc="315" dirty="0"/>
              <a:t> </a:t>
            </a:r>
            <a:r>
              <a:rPr lang="en-US" spc="-25" dirty="0" err="1"/>
              <a:t>dụ</a:t>
            </a:r>
            <a:endParaRPr dirty="0"/>
          </a:p>
        </p:txBody>
      </p:sp>
      <p:graphicFrame>
        <p:nvGraphicFramePr>
          <p:cNvPr id="8" name="object 3"/>
          <p:cNvGraphicFramePr>
            <a:graphicFrameLocks noGrp="1"/>
          </p:cNvGraphicFramePr>
          <p:nvPr/>
        </p:nvGraphicFramePr>
        <p:xfrm>
          <a:off x="4988940" y="2100960"/>
          <a:ext cx="6351904" cy="191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9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970"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-10" dirty="0">
                          <a:latin typeface="Tahoma"/>
                          <a:cs typeface="Tahoma"/>
                        </a:rPr>
                        <a:t>Emp_No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-10" dirty="0">
                          <a:latin typeface="Tahoma"/>
                          <a:cs typeface="Tahoma"/>
                        </a:rPr>
                        <a:t>Emp_Name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2628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-10" dirty="0">
                          <a:latin typeface="Tahoma"/>
                          <a:cs typeface="Tahoma"/>
                        </a:rPr>
                        <a:t>Emp_DOB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28321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-10" dirty="0">
                          <a:latin typeface="Tahoma"/>
                          <a:cs typeface="Tahoma"/>
                        </a:rPr>
                        <a:t>Emp_DOJ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5" dirty="0">
                          <a:latin typeface="Tahoma"/>
                          <a:cs typeface="Tahoma"/>
                        </a:rPr>
                        <a:t>345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James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24-Sep-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1968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30-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May-1990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5" dirty="0">
                          <a:latin typeface="Tahoma"/>
                          <a:cs typeface="Tahoma"/>
                        </a:rPr>
                        <a:t>873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Pamela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30" dirty="0">
                          <a:latin typeface="Tahoma"/>
                          <a:cs typeface="Tahoma"/>
                        </a:rPr>
                        <a:t>27-Jul-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1970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30" dirty="0">
                          <a:latin typeface="Tahoma"/>
                          <a:cs typeface="Tahoma"/>
                        </a:rPr>
                        <a:t>19-</a:t>
                      </a:r>
                      <a:r>
                        <a:rPr sz="1800" spc="-25" dirty="0">
                          <a:latin typeface="Tahoma"/>
                          <a:cs typeface="Tahoma"/>
                        </a:rPr>
                        <a:t>Nov-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1993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-25" dirty="0">
                          <a:latin typeface="Tahoma"/>
                          <a:cs typeface="Tahoma"/>
                        </a:rPr>
                        <a:t>693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Allan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10-Sep-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1970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-30" dirty="0">
                          <a:latin typeface="Tahoma"/>
                          <a:cs typeface="Tahoma"/>
                        </a:rPr>
                        <a:t>01-Jul-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1992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5" dirty="0">
                          <a:latin typeface="Tahoma"/>
                          <a:cs typeface="Tahoma"/>
                        </a:rPr>
                        <a:t>305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Geoff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30" dirty="0">
                          <a:latin typeface="Tahoma"/>
                          <a:cs typeface="Tahoma"/>
                        </a:rPr>
                        <a:t>12-Feb-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1973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30" dirty="0">
                          <a:latin typeface="Tahoma"/>
                          <a:cs typeface="Tahoma"/>
                        </a:rPr>
                        <a:t>29-</a:t>
                      </a:r>
                      <a:r>
                        <a:rPr sz="1800" spc="-25" dirty="0">
                          <a:latin typeface="Tahoma"/>
                          <a:cs typeface="Tahoma"/>
                        </a:rPr>
                        <a:t>Oct-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1996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object 4"/>
          <p:cNvGraphicFramePr>
            <a:graphicFrameLocks noGrp="1"/>
          </p:cNvGraphicFramePr>
          <p:nvPr/>
        </p:nvGraphicFramePr>
        <p:xfrm>
          <a:off x="1149235" y="2089530"/>
          <a:ext cx="1828800" cy="1992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4970"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-10" dirty="0">
                          <a:latin typeface="Tahoma"/>
                          <a:cs typeface="Tahoma"/>
                        </a:rPr>
                        <a:t>Emp_No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69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5" dirty="0">
                          <a:latin typeface="Tahoma"/>
                          <a:cs typeface="Tahoma"/>
                        </a:rPr>
                        <a:t>305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5" dirty="0">
                          <a:latin typeface="Tahoma"/>
                          <a:cs typeface="Tahoma"/>
                        </a:rPr>
                        <a:t>345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spc="-25" dirty="0">
                          <a:latin typeface="Tahoma"/>
                          <a:cs typeface="Tahoma"/>
                        </a:rPr>
                        <a:t>693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25" dirty="0">
                          <a:latin typeface="Tahoma"/>
                          <a:cs typeface="Tahoma"/>
                        </a:rPr>
                        <a:t>873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5"/>
          <p:cNvSpPr/>
          <p:nvPr/>
        </p:nvSpPr>
        <p:spPr>
          <a:xfrm>
            <a:off x="2968751" y="2651760"/>
            <a:ext cx="2033270" cy="1244600"/>
          </a:xfrm>
          <a:custGeom>
            <a:avLst/>
            <a:gdLst/>
            <a:ahLst/>
            <a:cxnLst/>
            <a:rect l="l" t="t" r="r" b="b"/>
            <a:pathLst>
              <a:path w="2033270" h="1244600">
                <a:moveTo>
                  <a:pt x="1245615" y="747902"/>
                </a:moveTo>
                <a:lnTo>
                  <a:pt x="1211834" y="747902"/>
                </a:lnTo>
                <a:lnTo>
                  <a:pt x="18668" y="1232789"/>
                </a:lnTo>
                <a:lnTo>
                  <a:pt x="23495" y="1244600"/>
                </a:lnTo>
                <a:lnTo>
                  <a:pt x="1245615" y="747902"/>
                </a:lnTo>
                <a:close/>
              </a:path>
              <a:path w="2033270" h="1244600">
                <a:moveTo>
                  <a:pt x="1386332" y="747902"/>
                </a:moveTo>
                <a:lnTo>
                  <a:pt x="1359915" y="747902"/>
                </a:lnTo>
                <a:lnTo>
                  <a:pt x="1961896" y="1078483"/>
                </a:lnTo>
                <a:lnTo>
                  <a:pt x="1946656" y="1106296"/>
                </a:lnTo>
                <a:lnTo>
                  <a:pt x="2031746" y="1109598"/>
                </a:lnTo>
                <a:lnTo>
                  <a:pt x="2002556" y="1067308"/>
                </a:lnTo>
                <a:lnTo>
                  <a:pt x="1968119" y="1067308"/>
                </a:lnTo>
                <a:lnTo>
                  <a:pt x="1386332" y="747902"/>
                </a:lnTo>
                <a:close/>
              </a:path>
              <a:path w="2033270" h="1244600">
                <a:moveTo>
                  <a:pt x="1983359" y="1039494"/>
                </a:moveTo>
                <a:lnTo>
                  <a:pt x="1968119" y="1067308"/>
                </a:lnTo>
                <a:lnTo>
                  <a:pt x="2002556" y="1067308"/>
                </a:lnTo>
                <a:lnTo>
                  <a:pt x="1983359" y="1039494"/>
                </a:lnTo>
                <a:close/>
              </a:path>
              <a:path w="2033270" h="1244600">
                <a:moveTo>
                  <a:pt x="1956815" y="703452"/>
                </a:moveTo>
                <a:lnTo>
                  <a:pt x="1956815" y="735202"/>
                </a:lnTo>
                <a:lnTo>
                  <a:pt x="1270" y="735202"/>
                </a:lnTo>
                <a:lnTo>
                  <a:pt x="1270" y="747902"/>
                </a:lnTo>
                <a:lnTo>
                  <a:pt x="1956815" y="747902"/>
                </a:lnTo>
                <a:lnTo>
                  <a:pt x="1956815" y="779652"/>
                </a:lnTo>
                <a:lnTo>
                  <a:pt x="2033015" y="741552"/>
                </a:lnTo>
                <a:lnTo>
                  <a:pt x="1956815" y="703452"/>
                </a:lnTo>
                <a:close/>
              </a:path>
              <a:path w="2033270" h="1244600">
                <a:moveTo>
                  <a:pt x="739477" y="392811"/>
                </a:moveTo>
                <a:lnTo>
                  <a:pt x="713105" y="392811"/>
                </a:lnTo>
                <a:lnTo>
                  <a:pt x="1296924" y="713359"/>
                </a:lnTo>
                <a:lnTo>
                  <a:pt x="1243076" y="735202"/>
                </a:lnTo>
                <a:lnTo>
                  <a:pt x="1276985" y="735202"/>
                </a:lnTo>
                <a:lnTo>
                  <a:pt x="1311275" y="721232"/>
                </a:lnTo>
                <a:lnTo>
                  <a:pt x="1336802" y="721232"/>
                </a:lnTo>
                <a:lnTo>
                  <a:pt x="1336802" y="720725"/>
                </a:lnTo>
                <a:lnTo>
                  <a:pt x="1326514" y="715137"/>
                </a:lnTo>
                <a:lnTo>
                  <a:pt x="1346197" y="707136"/>
                </a:lnTo>
                <a:lnTo>
                  <a:pt x="1312164" y="707136"/>
                </a:lnTo>
                <a:lnTo>
                  <a:pt x="739477" y="392811"/>
                </a:lnTo>
                <a:close/>
              </a:path>
              <a:path w="2033270" h="1244600">
                <a:moveTo>
                  <a:pt x="1336802" y="721232"/>
                </a:moveTo>
                <a:lnTo>
                  <a:pt x="1311275" y="721232"/>
                </a:lnTo>
                <a:lnTo>
                  <a:pt x="1336802" y="735202"/>
                </a:lnTo>
                <a:lnTo>
                  <a:pt x="1336802" y="721232"/>
                </a:lnTo>
                <a:close/>
              </a:path>
              <a:path w="2033270" h="1244600">
                <a:moveTo>
                  <a:pt x="1336802" y="720725"/>
                </a:moveTo>
                <a:lnTo>
                  <a:pt x="1336802" y="735202"/>
                </a:lnTo>
                <a:lnTo>
                  <a:pt x="1363218" y="735202"/>
                </a:lnTo>
                <a:lnTo>
                  <a:pt x="1336802" y="720725"/>
                </a:lnTo>
                <a:close/>
              </a:path>
              <a:path w="2033270" h="1244600">
                <a:moveTo>
                  <a:pt x="1946783" y="415036"/>
                </a:moveTo>
                <a:lnTo>
                  <a:pt x="1958721" y="444373"/>
                </a:lnTo>
                <a:lnTo>
                  <a:pt x="1312164" y="707136"/>
                </a:lnTo>
                <a:lnTo>
                  <a:pt x="1346197" y="707136"/>
                </a:lnTo>
                <a:lnTo>
                  <a:pt x="1963547" y="456184"/>
                </a:lnTo>
                <a:lnTo>
                  <a:pt x="2001367" y="456184"/>
                </a:lnTo>
                <a:lnTo>
                  <a:pt x="2031746" y="421639"/>
                </a:lnTo>
                <a:lnTo>
                  <a:pt x="1946783" y="415036"/>
                </a:lnTo>
                <a:close/>
              </a:path>
              <a:path w="2033270" h="1244600">
                <a:moveTo>
                  <a:pt x="24130" y="0"/>
                </a:moveTo>
                <a:lnTo>
                  <a:pt x="18034" y="11175"/>
                </a:lnTo>
                <a:lnTo>
                  <a:pt x="695833" y="383286"/>
                </a:lnTo>
                <a:lnTo>
                  <a:pt x="0" y="521462"/>
                </a:lnTo>
                <a:lnTo>
                  <a:pt x="2540" y="533907"/>
                </a:lnTo>
                <a:lnTo>
                  <a:pt x="713105" y="392811"/>
                </a:lnTo>
                <a:lnTo>
                  <a:pt x="739477" y="392811"/>
                </a:lnTo>
                <a:lnTo>
                  <a:pt x="732536" y="389000"/>
                </a:lnTo>
                <a:lnTo>
                  <a:pt x="780513" y="379475"/>
                </a:lnTo>
                <a:lnTo>
                  <a:pt x="715263" y="379475"/>
                </a:lnTo>
                <a:lnTo>
                  <a:pt x="24130" y="0"/>
                </a:lnTo>
                <a:close/>
              </a:path>
              <a:path w="2033270" h="1244600">
                <a:moveTo>
                  <a:pt x="2001367" y="456184"/>
                </a:moveTo>
                <a:lnTo>
                  <a:pt x="1963547" y="456184"/>
                </a:lnTo>
                <a:lnTo>
                  <a:pt x="1975485" y="485648"/>
                </a:lnTo>
                <a:lnTo>
                  <a:pt x="2001367" y="456184"/>
                </a:lnTo>
                <a:close/>
              </a:path>
              <a:path w="2033270" h="1244600">
                <a:moveTo>
                  <a:pt x="1950847" y="101980"/>
                </a:moveTo>
                <a:lnTo>
                  <a:pt x="1957070" y="132968"/>
                </a:lnTo>
                <a:lnTo>
                  <a:pt x="715263" y="379475"/>
                </a:lnTo>
                <a:lnTo>
                  <a:pt x="780513" y="379475"/>
                </a:lnTo>
                <a:lnTo>
                  <a:pt x="1959483" y="145414"/>
                </a:lnTo>
                <a:lnTo>
                  <a:pt x="2005993" y="145414"/>
                </a:lnTo>
                <a:lnTo>
                  <a:pt x="2033015" y="124460"/>
                </a:lnTo>
                <a:lnTo>
                  <a:pt x="1950847" y="101980"/>
                </a:lnTo>
                <a:close/>
              </a:path>
              <a:path w="2033270" h="1244600">
                <a:moveTo>
                  <a:pt x="2005993" y="145414"/>
                </a:moveTo>
                <a:lnTo>
                  <a:pt x="1959483" y="145414"/>
                </a:lnTo>
                <a:lnTo>
                  <a:pt x="1965706" y="176656"/>
                </a:lnTo>
                <a:lnTo>
                  <a:pt x="2005993" y="145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vi-VN" spc="-110" dirty="0"/>
              <a:t>Chỉ</a:t>
            </a:r>
            <a:r>
              <a:rPr lang="vi-VN" spc="-300" dirty="0"/>
              <a:t> </a:t>
            </a:r>
            <a:r>
              <a:rPr lang="vi-VN" spc="-20" dirty="0"/>
              <a:t>mục</a:t>
            </a:r>
            <a:r>
              <a:rPr lang="vi-VN" spc="-290" dirty="0"/>
              <a:t> </a:t>
            </a:r>
            <a:r>
              <a:rPr lang="vi-VN" spc="-30" dirty="0"/>
              <a:t>–</a:t>
            </a:r>
            <a:r>
              <a:rPr lang="vi-VN" spc="-495" dirty="0"/>
              <a:t> </a:t>
            </a:r>
            <a:r>
              <a:rPr lang="vi-VN" spc="-55" dirty="0"/>
              <a:t>Ưu</a:t>
            </a:r>
            <a:r>
              <a:rPr lang="vi-VN" spc="-250" dirty="0"/>
              <a:t> </a:t>
            </a:r>
            <a:r>
              <a:rPr lang="vi-VN" spc="-60" dirty="0"/>
              <a:t>và</a:t>
            </a:r>
            <a:r>
              <a:rPr lang="vi-VN" spc="-245" dirty="0"/>
              <a:t> </a:t>
            </a:r>
            <a:r>
              <a:rPr lang="vi-VN" spc="-70" dirty="0"/>
              <a:t>nhược</a:t>
            </a:r>
            <a:r>
              <a:rPr lang="vi-VN" spc="-145" dirty="0"/>
              <a:t> </a:t>
            </a:r>
            <a:r>
              <a:rPr lang="vi-VN" spc="-20" dirty="0"/>
              <a:t>điểm</a:t>
            </a:r>
            <a:endParaRPr dirty="0"/>
          </a:p>
        </p:txBody>
      </p:sp>
      <p:sp>
        <p:nvSpPr>
          <p:cNvPr id="5" name="object 3"/>
          <p:cNvSpPr txBox="1"/>
          <p:nvPr/>
        </p:nvSpPr>
        <p:spPr>
          <a:xfrm>
            <a:off x="974566" y="1584042"/>
            <a:ext cx="10236835" cy="43106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SzPct val="119642"/>
              <a:buFont typeface="Wingdings" panose="05000000000000000000" pitchFamily="2" charset="2"/>
              <a:buChar char="Ø"/>
              <a:tabLst>
                <a:tab pos="240029" algn="l"/>
              </a:tabLst>
            </a:pPr>
            <a:r>
              <a:rPr sz="2000" dirty="0">
                <a:latin typeface="Montserrat" pitchFamily="2" charset="0"/>
              </a:rPr>
              <a:t>Ưu điểm:</a:t>
            </a:r>
          </a:p>
          <a:p>
            <a:pPr marL="756285" lvl="1" indent="-342900">
              <a:lnSpc>
                <a:spcPts val="2790"/>
              </a:lnSpc>
              <a:spcBef>
                <a:spcPts val="30"/>
              </a:spcBef>
              <a:buSzPct val="118750"/>
              <a:buFont typeface="Arial" panose="020B0604020202020204" pitchFamily="34" charset="0"/>
              <a:buChar char="•"/>
              <a:tabLst>
                <a:tab pos="636905" algn="l"/>
              </a:tabLst>
            </a:pPr>
            <a:r>
              <a:rPr sz="2000" dirty="0">
                <a:latin typeface="Montserrat" pitchFamily="2" charset="0"/>
              </a:rPr>
              <a:t>Một chỉ mục cho phép chương trình tìm dữ liệu trong bảng </a:t>
            </a:r>
            <a:r>
              <a:rPr sz="2000" dirty="0" err="1">
                <a:latin typeface="Montserrat" pitchFamily="2" charset="0"/>
              </a:rPr>
              <a:t>mà</a:t>
            </a:r>
            <a:r>
              <a:rPr sz="2000" dirty="0">
                <a:latin typeface="Montserrat" pitchFamily="2" charset="0"/>
              </a:rPr>
              <a:t> </a:t>
            </a:r>
            <a:r>
              <a:rPr sz="2000" dirty="0" err="1" smtClean="0">
                <a:latin typeface="Montserrat" pitchFamily="2" charset="0"/>
              </a:rPr>
              <a:t>không</a:t>
            </a:r>
            <a:r>
              <a:rPr lang="en-US" sz="2000" dirty="0">
                <a:latin typeface="Montserrat" pitchFamily="2" charset="0"/>
              </a:rPr>
              <a:t> </a:t>
            </a:r>
            <a:r>
              <a:rPr sz="2000" dirty="0" err="1" smtClean="0">
                <a:latin typeface="Montserrat" pitchFamily="2" charset="0"/>
              </a:rPr>
              <a:t>cần</a:t>
            </a:r>
            <a:r>
              <a:rPr sz="2000" dirty="0" smtClean="0">
                <a:latin typeface="Montserrat" pitchFamily="2" charset="0"/>
              </a:rPr>
              <a:t> </a:t>
            </a:r>
            <a:r>
              <a:rPr sz="2000" dirty="0">
                <a:latin typeface="Montserrat" pitchFamily="2" charset="0"/>
              </a:rPr>
              <a:t>duyệt qua toàn bộ bảng.</a:t>
            </a:r>
          </a:p>
          <a:p>
            <a:pPr marL="755650" marR="116839" lvl="1" indent="-342900">
              <a:lnSpc>
                <a:spcPts val="2700"/>
              </a:lnSpc>
              <a:spcBef>
                <a:spcPts val="260"/>
              </a:spcBef>
              <a:buSzPct val="118750"/>
              <a:buFont typeface="Arial" panose="020B0604020202020204" pitchFamily="34" charset="0"/>
              <a:buChar char="•"/>
              <a:tabLst>
                <a:tab pos="636905" algn="l"/>
              </a:tabLst>
            </a:pPr>
            <a:r>
              <a:rPr sz="2000" dirty="0">
                <a:latin typeface="Montserrat" pitchFamily="2" charset="0"/>
              </a:rPr>
              <a:t>Chỉ mục giúp làm tăng tốc độ thực thi các truy vấn cần nối nhiều </a:t>
            </a:r>
            <a:r>
              <a:rPr sz="2000" dirty="0" err="1">
                <a:latin typeface="Montserrat" pitchFamily="2" charset="0"/>
              </a:rPr>
              <a:t>bảng</a:t>
            </a:r>
            <a:r>
              <a:rPr sz="2000" dirty="0">
                <a:latin typeface="Montserrat" pitchFamily="2" charset="0"/>
              </a:rPr>
              <a:t> </a:t>
            </a:r>
            <a:r>
              <a:rPr sz="2000" dirty="0" smtClean="0">
                <a:latin typeface="Montserrat" pitchFamily="2" charset="0"/>
              </a:rPr>
              <a:t>hay </a:t>
            </a:r>
            <a:r>
              <a:rPr sz="2000" dirty="0">
                <a:latin typeface="Montserrat" pitchFamily="2" charset="0"/>
              </a:rPr>
              <a:t>cần sắp xếp dữ liệu.</a:t>
            </a:r>
          </a:p>
          <a:p>
            <a:pPr marL="755651" marR="314960" lvl="1" indent="-342900">
              <a:lnSpc>
                <a:spcPts val="2600"/>
              </a:lnSpc>
              <a:spcBef>
                <a:spcPts val="475"/>
              </a:spcBef>
              <a:buSzPct val="118750"/>
              <a:buFont typeface="Arial" panose="020B0604020202020204" pitchFamily="34" charset="0"/>
              <a:buChar char="•"/>
              <a:tabLst>
                <a:tab pos="636905" algn="l"/>
              </a:tabLst>
            </a:pPr>
            <a:r>
              <a:rPr sz="2000" dirty="0">
                <a:latin typeface="Montserrat" pitchFamily="2" charset="0"/>
              </a:rPr>
              <a:t>Một chỉ mục hợp lý có thể cải thiện </a:t>
            </a:r>
            <a:r>
              <a:rPr sz="2000" dirty="0" err="1">
                <a:latin typeface="Montserrat" pitchFamily="2" charset="0"/>
              </a:rPr>
              <a:t>sự</a:t>
            </a:r>
            <a:r>
              <a:rPr sz="2000" dirty="0">
                <a:latin typeface="Montserrat" pitchFamily="2" charset="0"/>
              </a:rPr>
              <a:t> </a:t>
            </a:r>
            <a:r>
              <a:rPr sz="2000" dirty="0" err="1" smtClean="0">
                <a:latin typeface="Montserrat" pitchFamily="2" charset="0"/>
              </a:rPr>
              <a:t>thực</a:t>
            </a:r>
            <a:r>
              <a:rPr sz="2000" dirty="0" smtClean="0">
                <a:latin typeface="Montserrat" pitchFamily="2" charset="0"/>
              </a:rPr>
              <a:t> </a:t>
            </a:r>
            <a:r>
              <a:rPr sz="2000" dirty="0" err="1">
                <a:latin typeface="Montserrat" pitchFamily="2" charset="0"/>
              </a:rPr>
              <a:t>thi</a:t>
            </a:r>
            <a:r>
              <a:rPr sz="2000" dirty="0">
                <a:latin typeface="Montserrat" pitchFamily="2" charset="0"/>
              </a:rPr>
              <a:t> </a:t>
            </a:r>
            <a:r>
              <a:rPr sz="2000" dirty="0" err="1" smtClean="0">
                <a:latin typeface="Montserrat" pitchFamily="2" charset="0"/>
              </a:rPr>
              <a:t>cơ</a:t>
            </a:r>
            <a:r>
              <a:rPr lang="en-US" sz="2000" dirty="0" smtClean="0">
                <a:latin typeface="Montserrat" pitchFamily="2" charset="0"/>
              </a:rPr>
              <a:t> </a:t>
            </a:r>
            <a:r>
              <a:rPr sz="2000" dirty="0" err="1" smtClean="0">
                <a:latin typeface="Montserrat" pitchFamily="2" charset="0"/>
              </a:rPr>
              <a:t>sở</a:t>
            </a:r>
            <a:r>
              <a:rPr sz="2000" dirty="0" smtClean="0">
                <a:latin typeface="Montserrat" pitchFamily="2" charset="0"/>
              </a:rPr>
              <a:t> </a:t>
            </a:r>
            <a:r>
              <a:rPr sz="2000" dirty="0" err="1" smtClean="0">
                <a:latin typeface="Montserrat" pitchFamily="2" charset="0"/>
              </a:rPr>
              <a:t>dữ</a:t>
            </a:r>
            <a:r>
              <a:rPr sz="2000" dirty="0" smtClean="0">
                <a:latin typeface="Montserrat" pitchFamily="2" charset="0"/>
              </a:rPr>
              <a:t> </a:t>
            </a:r>
            <a:r>
              <a:rPr sz="2000" dirty="0">
                <a:latin typeface="Montserrat" pitchFamily="2" charset="0"/>
              </a:rPr>
              <a:t>liệu bởi giảm bớt thời gian truy cập.</a:t>
            </a:r>
          </a:p>
          <a:p>
            <a:pPr marL="469900" indent="-457200">
              <a:lnSpc>
                <a:spcPct val="100000"/>
              </a:lnSpc>
              <a:spcBef>
                <a:spcPts val="550"/>
              </a:spcBef>
              <a:buSzPct val="119642"/>
              <a:buFont typeface="Wingdings" panose="05000000000000000000" pitchFamily="2" charset="2"/>
              <a:buChar char="Ø"/>
              <a:tabLst>
                <a:tab pos="240029" algn="l"/>
              </a:tabLst>
            </a:pPr>
            <a:r>
              <a:rPr sz="2000" dirty="0">
                <a:latin typeface="Montserrat" pitchFamily="2" charset="0"/>
              </a:rPr>
              <a:t>Hạn chế:</a:t>
            </a:r>
          </a:p>
          <a:p>
            <a:pPr marL="755650" marR="280670" lvl="1" indent="-342900">
              <a:lnSpc>
                <a:spcPts val="2700"/>
              </a:lnSpc>
              <a:spcBef>
                <a:spcPts val="280"/>
              </a:spcBef>
              <a:buSzPct val="118750"/>
              <a:buFont typeface="Arial" panose="020B0604020202020204" pitchFamily="34" charset="0"/>
              <a:buChar char="•"/>
              <a:tabLst>
                <a:tab pos="636905" algn="l"/>
              </a:tabLst>
            </a:pPr>
            <a:r>
              <a:rPr sz="2000" dirty="0">
                <a:latin typeface="Montserrat" pitchFamily="2" charset="0"/>
              </a:rPr>
              <a:t>Các bảng có các chỉ mục đòi hỏi nhiều dung lượng bộ nhớ hơn </a:t>
            </a:r>
            <a:r>
              <a:rPr sz="2000" dirty="0" err="1">
                <a:latin typeface="Montserrat" pitchFamily="2" charset="0"/>
              </a:rPr>
              <a:t>trong</a:t>
            </a:r>
            <a:r>
              <a:rPr sz="2000" dirty="0">
                <a:latin typeface="Montserrat" pitchFamily="2" charset="0"/>
              </a:rPr>
              <a:t> </a:t>
            </a:r>
            <a:r>
              <a:rPr sz="2000" dirty="0" smtClean="0">
                <a:latin typeface="Montserrat" pitchFamily="2" charset="0"/>
              </a:rPr>
              <a:t>CSDL</a:t>
            </a:r>
            <a:r>
              <a:rPr sz="2000" dirty="0">
                <a:latin typeface="Montserrat" pitchFamily="2" charset="0"/>
              </a:rPr>
              <a:t>.</a:t>
            </a:r>
          </a:p>
          <a:p>
            <a:pPr marL="756285" lvl="1" indent="-342900">
              <a:lnSpc>
                <a:spcPts val="2745"/>
              </a:lnSpc>
              <a:spcBef>
                <a:spcPts val="160"/>
              </a:spcBef>
              <a:buSzPct val="118750"/>
              <a:buFont typeface="Arial" panose="020B0604020202020204" pitchFamily="34" charset="0"/>
              <a:buChar char="•"/>
              <a:tabLst>
                <a:tab pos="636905" algn="l"/>
              </a:tabLst>
            </a:pPr>
            <a:r>
              <a:rPr sz="2000" dirty="0">
                <a:latin typeface="Montserrat" pitchFamily="2" charset="0"/>
              </a:rPr>
              <a:t>Các lệnh thao tác dữ liệu đòi hỏi nhiều thời gian xử lý hơn, vì </a:t>
            </a:r>
            <a:r>
              <a:rPr sz="2000" dirty="0" err="1">
                <a:latin typeface="Montserrat" pitchFamily="2" charset="0"/>
              </a:rPr>
              <a:t>chúng</a:t>
            </a:r>
            <a:r>
              <a:rPr sz="2000" dirty="0">
                <a:latin typeface="Montserrat" pitchFamily="2" charset="0"/>
              </a:rPr>
              <a:t> </a:t>
            </a:r>
            <a:r>
              <a:rPr sz="2000" dirty="0" err="1" smtClean="0">
                <a:latin typeface="Montserrat" pitchFamily="2" charset="0"/>
              </a:rPr>
              <a:t>cần</a:t>
            </a:r>
            <a:r>
              <a:rPr lang="en-US" sz="2000" dirty="0">
                <a:latin typeface="Montserrat" pitchFamily="2" charset="0"/>
              </a:rPr>
              <a:t> </a:t>
            </a:r>
            <a:r>
              <a:rPr sz="2000" dirty="0" err="1" smtClean="0">
                <a:latin typeface="Montserrat" pitchFamily="2" charset="0"/>
              </a:rPr>
              <a:t>cập</a:t>
            </a:r>
            <a:r>
              <a:rPr sz="2000" dirty="0" smtClean="0">
                <a:latin typeface="Montserrat" pitchFamily="2" charset="0"/>
              </a:rPr>
              <a:t> </a:t>
            </a:r>
            <a:r>
              <a:rPr sz="2000" dirty="0">
                <a:latin typeface="Montserrat" pitchFamily="2" charset="0"/>
              </a:rPr>
              <a:t>nhật sự thay đổi tới các chỉ mục.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vi-VN" spc="-110" dirty="0"/>
              <a:t>Chỉ</a:t>
            </a:r>
            <a:r>
              <a:rPr lang="vi-VN" spc="-300" dirty="0"/>
              <a:t> </a:t>
            </a:r>
            <a:r>
              <a:rPr lang="vi-VN" spc="-20" dirty="0"/>
              <a:t>mục</a:t>
            </a:r>
            <a:r>
              <a:rPr lang="vi-VN" spc="-290" dirty="0"/>
              <a:t> </a:t>
            </a:r>
            <a:r>
              <a:rPr lang="vi-VN" spc="-30" dirty="0"/>
              <a:t>–</a:t>
            </a:r>
            <a:r>
              <a:rPr lang="vi-VN" spc="-495" dirty="0"/>
              <a:t> </a:t>
            </a:r>
            <a:r>
              <a:rPr lang="en-US" spc="-495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endParaRPr dirty="0"/>
          </a:p>
        </p:txBody>
      </p:sp>
      <p:sp>
        <p:nvSpPr>
          <p:cNvPr id="4" name="object 7"/>
          <p:cNvSpPr txBox="1"/>
          <p:nvPr/>
        </p:nvSpPr>
        <p:spPr>
          <a:xfrm>
            <a:off x="4298478" y="2754745"/>
            <a:ext cx="1703514" cy="378309"/>
          </a:xfrm>
          <a:prstGeom prst="rect">
            <a:avLst/>
          </a:prstGeom>
          <a:solidFill>
            <a:srgbClr val="5B9BD3"/>
          </a:solidFill>
          <a:ln w="9144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790"/>
              </a:spcBef>
            </a:pPr>
            <a:r>
              <a:rPr sz="1800" spc="-10" dirty="0">
                <a:latin typeface="Carlito"/>
                <a:cs typeface="Carlito"/>
              </a:rPr>
              <a:t>Index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page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8"/>
          <p:cNvSpPr txBox="1"/>
          <p:nvPr/>
        </p:nvSpPr>
        <p:spPr>
          <a:xfrm>
            <a:off x="2219743" y="3745345"/>
            <a:ext cx="1798075" cy="378309"/>
          </a:xfrm>
          <a:prstGeom prst="rect">
            <a:avLst/>
          </a:prstGeom>
          <a:solidFill>
            <a:srgbClr val="5B9BD3"/>
          </a:solidFill>
          <a:ln w="9144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790"/>
              </a:spcBef>
            </a:pPr>
            <a:r>
              <a:rPr sz="1800" dirty="0">
                <a:latin typeface="Carlito"/>
                <a:cs typeface="Carlito"/>
              </a:rPr>
              <a:t>Index</a:t>
            </a:r>
            <a:r>
              <a:rPr sz="1800" spc="-10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page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7" name="object 9"/>
          <p:cNvSpPr txBox="1"/>
          <p:nvPr/>
        </p:nvSpPr>
        <p:spPr>
          <a:xfrm>
            <a:off x="1046263" y="4735945"/>
            <a:ext cx="1802768" cy="520655"/>
          </a:xfrm>
          <a:prstGeom prst="rect">
            <a:avLst/>
          </a:prstGeom>
          <a:solidFill>
            <a:srgbClr val="5B9BD3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ts val="1889"/>
              </a:lnSpc>
            </a:pPr>
            <a:r>
              <a:rPr sz="1800" spc="-10" dirty="0">
                <a:latin typeface="Carlito"/>
                <a:cs typeface="Carlito"/>
              </a:rPr>
              <a:t>Index/Data</a:t>
            </a:r>
            <a:endParaRPr sz="1800">
              <a:latin typeface="Carlito"/>
              <a:cs typeface="Carlito"/>
            </a:endParaRPr>
          </a:p>
          <a:p>
            <a:pPr marL="50800" algn="ctr">
              <a:lnSpc>
                <a:spcPct val="100000"/>
              </a:lnSpc>
            </a:pPr>
            <a:r>
              <a:rPr sz="1800" spc="-20" dirty="0">
                <a:latin typeface="Carlito"/>
                <a:cs typeface="Carlito"/>
              </a:rPr>
              <a:t>Page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8" name="object 10"/>
          <p:cNvSpPr txBox="1"/>
          <p:nvPr/>
        </p:nvSpPr>
        <p:spPr>
          <a:xfrm>
            <a:off x="3304831" y="4735945"/>
            <a:ext cx="1802768" cy="520655"/>
          </a:xfrm>
          <a:prstGeom prst="rect">
            <a:avLst/>
          </a:prstGeom>
          <a:solidFill>
            <a:srgbClr val="5B9BD3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" algn="ctr">
              <a:lnSpc>
                <a:spcPts val="1889"/>
              </a:lnSpc>
            </a:pPr>
            <a:r>
              <a:rPr sz="1800" spc="-10" dirty="0">
                <a:latin typeface="Carlito"/>
                <a:cs typeface="Carlito"/>
              </a:rPr>
              <a:t>Index/Data</a:t>
            </a:r>
            <a:endParaRPr sz="1800">
              <a:latin typeface="Carlito"/>
              <a:cs typeface="Carlito"/>
            </a:endParaRPr>
          </a:p>
          <a:p>
            <a:pPr marL="54610" algn="ctr">
              <a:lnSpc>
                <a:spcPct val="100000"/>
              </a:lnSpc>
            </a:pPr>
            <a:r>
              <a:rPr sz="1800" spc="-20" dirty="0">
                <a:latin typeface="Carlito"/>
                <a:cs typeface="Carlito"/>
              </a:rPr>
              <a:t>Page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11"/>
          <p:cNvSpPr/>
          <p:nvPr/>
        </p:nvSpPr>
        <p:spPr>
          <a:xfrm>
            <a:off x="3033559" y="3288145"/>
            <a:ext cx="2253989" cy="500541"/>
          </a:xfrm>
          <a:custGeom>
            <a:avLst/>
            <a:gdLst/>
            <a:ahLst/>
            <a:cxnLst/>
            <a:rect l="l" t="t" r="r" b="b"/>
            <a:pathLst>
              <a:path w="2033270" h="457200">
                <a:moveTo>
                  <a:pt x="2032761" y="0"/>
                </a:moveTo>
                <a:lnTo>
                  <a:pt x="2032761" y="228600"/>
                </a:lnTo>
                <a:lnTo>
                  <a:pt x="0" y="228600"/>
                </a:lnTo>
                <a:lnTo>
                  <a:pt x="0" y="4572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2"/>
          <p:cNvSpPr/>
          <p:nvPr/>
        </p:nvSpPr>
        <p:spPr>
          <a:xfrm>
            <a:off x="1858554" y="4278745"/>
            <a:ext cx="2505995" cy="500541"/>
          </a:xfrm>
          <a:custGeom>
            <a:avLst/>
            <a:gdLst/>
            <a:ahLst/>
            <a:cxnLst/>
            <a:rect l="l" t="t" r="r" b="b"/>
            <a:pathLst>
              <a:path w="2260600" h="457200">
                <a:moveTo>
                  <a:pt x="1175004" y="0"/>
                </a:moveTo>
                <a:lnTo>
                  <a:pt x="1175004" y="228600"/>
                </a:lnTo>
                <a:lnTo>
                  <a:pt x="0" y="228600"/>
                </a:lnTo>
                <a:lnTo>
                  <a:pt x="0" y="457200"/>
                </a:lnTo>
              </a:path>
              <a:path w="2260600" h="457200">
                <a:moveTo>
                  <a:pt x="1175385" y="0"/>
                </a:moveTo>
                <a:lnTo>
                  <a:pt x="1175385" y="228600"/>
                </a:lnTo>
                <a:lnTo>
                  <a:pt x="2260091" y="228600"/>
                </a:lnTo>
                <a:lnTo>
                  <a:pt x="2260091" y="4572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3"/>
          <p:cNvSpPr txBox="1"/>
          <p:nvPr/>
        </p:nvSpPr>
        <p:spPr>
          <a:xfrm>
            <a:off x="6467131" y="3745345"/>
            <a:ext cx="1799414" cy="378309"/>
          </a:xfrm>
          <a:prstGeom prst="rect">
            <a:avLst/>
          </a:prstGeom>
          <a:solidFill>
            <a:srgbClr val="5B9BD3"/>
          </a:solidFill>
          <a:ln w="9144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308610">
              <a:lnSpc>
                <a:spcPct val="100000"/>
              </a:lnSpc>
              <a:spcBef>
                <a:spcPts val="790"/>
              </a:spcBef>
            </a:pPr>
            <a:r>
              <a:rPr sz="1800" dirty="0">
                <a:latin typeface="Carlito"/>
                <a:cs typeface="Carlito"/>
              </a:rPr>
              <a:t>Index</a:t>
            </a:r>
            <a:r>
              <a:rPr sz="1800" spc="-10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page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12" name="object 14"/>
          <p:cNvSpPr txBox="1"/>
          <p:nvPr/>
        </p:nvSpPr>
        <p:spPr>
          <a:xfrm>
            <a:off x="5292126" y="4735945"/>
            <a:ext cx="1804880" cy="520655"/>
          </a:xfrm>
          <a:prstGeom prst="rect">
            <a:avLst/>
          </a:prstGeom>
          <a:solidFill>
            <a:srgbClr val="5B9BD3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ts val="1889"/>
              </a:lnSpc>
            </a:pPr>
            <a:r>
              <a:rPr sz="1800" spc="-10" dirty="0">
                <a:latin typeface="Carlito"/>
                <a:cs typeface="Carlito"/>
              </a:rPr>
              <a:t>Index/Data</a:t>
            </a:r>
            <a:endParaRPr sz="1800">
              <a:latin typeface="Carlito"/>
              <a:cs typeface="Carlito"/>
            </a:endParaRPr>
          </a:p>
          <a:p>
            <a:pPr marL="56515" algn="ctr">
              <a:lnSpc>
                <a:spcPct val="100000"/>
              </a:lnSpc>
            </a:pPr>
            <a:r>
              <a:rPr sz="1800" spc="-20" dirty="0">
                <a:latin typeface="Carlito"/>
                <a:cs typeface="Carlito"/>
              </a:rPr>
              <a:t>Page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3" name="object 15"/>
          <p:cNvSpPr txBox="1"/>
          <p:nvPr/>
        </p:nvSpPr>
        <p:spPr>
          <a:xfrm>
            <a:off x="7552219" y="4735945"/>
            <a:ext cx="1802768" cy="520655"/>
          </a:xfrm>
          <a:prstGeom prst="rect">
            <a:avLst/>
          </a:prstGeom>
          <a:solidFill>
            <a:srgbClr val="5B9BD3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10" algn="ctr">
              <a:lnSpc>
                <a:spcPts val="1889"/>
              </a:lnSpc>
            </a:pPr>
            <a:r>
              <a:rPr sz="1800" spc="-10" dirty="0">
                <a:latin typeface="Carlito"/>
                <a:cs typeface="Carlito"/>
              </a:rPr>
              <a:t>Index/Data</a:t>
            </a:r>
            <a:endParaRPr sz="1800">
              <a:latin typeface="Carlito"/>
              <a:cs typeface="Carlito"/>
            </a:endParaRPr>
          </a:p>
          <a:p>
            <a:pPr marL="55880" algn="ctr">
              <a:lnSpc>
                <a:spcPct val="100000"/>
              </a:lnSpc>
            </a:pPr>
            <a:r>
              <a:rPr sz="1800" spc="-20" dirty="0">
                <a:latin typeface="Carlito"/>
                <a:cs typeface="Carlito"/>
              </a:rPr>
              <a:t>Page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4" name="object 16"/>
          <p:cNvSpPr/>
          <p:nvPr/>
        </p:nvSpPr>
        <p:spPr>
          <a:xfrm>
            <a:off x="6105942" y="4278745"/>
            <a:ext cx="2505995" cy="500541"/>
          </a:xfrm>
          <a:custGeom>
            <a:avLst/>
            <a:gdLst/>
            <a:ahLst/>
            <a:cxnLst/>
            <a:rect l="l" t="t" r="r" b="b"/>
            <a:pathLst>
              <a:path w="2260600" h="457200">
                <a:moveTo>
                  <a:pt x="1175004" y="0"/>
                </a:moveTo>
                <a:lnTo>
                  <a:pt x="1175004" y="228600"/>
                </a:lnTo>
                <a:lnTo>
                  <a:pt x="0" y="228600"/>
                </a:lnTo>
                <a:lnTo>
                  <a:pt x="0" y="457200"/>
                </a:lnTo>
              </a:path>
              <a:path w="2260600" h="457200">
                <a:moveTo>
                  <a:pt x="1175385" y="0"/>
                </a:moveTo>
                <a:lnTo>
                  <a:pt x="1175385" y="228600"/>
                </a:lnTo>
                <a:lnTo>
                  <a:pt x="2260091" y="228600"/>
                </a:lnTo>
                <a:lnTo>
                  <a:pt x="2260091" y="4572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7"/>
          <p:cNvSpPr/>
          <p:nvPr/>
        </p:nvSpPr>
        <p:spPr>
          <a:xfrm>
            <a:off x="5066575" y="3288145"/>
            <a:ext cx="2454609" cy="500541"/>
          </a:xfrm>
          <a:custGeom>
            <a:avLst/>
            <a:gdLst/>
            <a:ahLst/>
            <a:cxnLst/>
            <a:rect l="l" t="t" r="r" b="b"/>
            <a:pathLst>
              <a:path w="2214245" h="457200">
                <a:moveTo>
                  <a:pt x="0" y="0"/>
                </a:moveTo>
                <a:lnTo>
                  <a:pt x="0" y="228600"/>
                </a:lnTo>
                <a:lnTo>
                  <a:pt x="2213863" y="228600"/>
                </a:lnTo>
                <a:lnTo>
                  <a:pt x="2213863" y="4572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8"/>
          <p:cNvGrpSpPr/>
          <p:nvPr/>
        </p:nvGrpSpPr>
        <p:grpSpPr>
          <a:xfrm>
            <a:off x="9444836" y="2702739"/>
            <a:ext cx="1980546" cy="677816"/>
            <a:chOff x="9415081" y="2767393"/>
            <a:chExt cx="2178050" cy="619125"/>
          </a:xfrm>
        </p:grpSpPr>
        <p:sp>
          <p:nvSpPr>
            <p:cNvPr id="17" name="object 19"/>
            <p:cNvSpPr/>
            <p:nvPr/>
          </p:nvSpPr>
          <p:spPr>
            <a:xfrm>
              <a:off x="9419843" y="2772155"/>
              <a:ext cx="2168525" cy="609600"/>
            </a:xfrm>
            <a:custGeom>
              <a:avLst/>
              <a:gdLst/>
              <a:ahLst/>
              <a:cxnLst/>
              <a:rect l="l" t="t" r="r" b="b"/>
              <a:pathLst>
                <a:path w="2168525" h="609600">
                  <a:moveTo>
                    <a:pt x="2066544" y="0"/>
                  </a:moveTo>
                  <a:lnTo>
                    <a:pt x="101600" y="0"/>
                  </a:lnTo>
                  <a:lnTo>
                    <a:pt x="61975" y="8001"/>
                  </a:lnTo>
                  <a:lnTo>
                    <a:pt x="29717" y="29718"/>
                  </a:lnTo>
                  <a:lnTo>
                    <a:pt x="8000" y="62103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8000" y="547497"/>
                  </a:lnTo>
                  <a:lnTo>
                    <a:pt x="29717" y="579882"/>
                  </a:lnTo>
                  <a:lnTo>
                    <a:pt x="61975" y="601599"/>
                  </a:lnTo>
                  <a:lnTo>
                    <a:pt x="101600" y="609600"/>
                  </a:lnTo>
                  <a:lnTo>
                    <a:pt x="2066544" y="609600"/>
                  </a:lnTo>
                  <a:lnTo>
                    <a:pt x="2106167" y="601599"/>
                  </a:lnTo>
                  <a:lnTo>
                    <a:pt x="2138426" y="579882"/>
                  </a:lnTo>
                  <a:lnTo>
                    <a:pt x="2160142" y="547497"/>
                  </a:lnTo>
                  <a:lnTo>
                    <a:pt x="2168144" y="508000"/>
                  </a:lnTo>
                  <a:lnTo>
                    <a:pt x="2168144" y="101600"/>
                  </a:lnTo>
                  <a:lnTo>
                    <a:pt x="2160142" y="62103"/>
                  </a:lnTo>
                  <a:lnTo>
                    <a:pt x="2138426" y="29718"/>
                  </a:lnTo>
                  <a:lnTo>
                    <a:pt x="2106167" y="8001"/>
                  </a:lnTo>
                  <a:lnTo>
                    <a:pt x="206654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0"/>
            <p:cNvSpPr/>
            <p:nvPr/>
          </p:nvSpPr>
          <p:spPr>
            <a:xfrm>
              <a:off x="9419843" y="2772155"/>
              <a:ext cx="2168525" cy="609600"/>
            </a:xfrm>
            <a:custGeom>
              <a:avLst/>
              <a:gdLst/>
              <a:ahLst/>
              <a:cxnLst/>
              <a:rect l="l" t="t" r="r" b="b"/>
              <a:pathLst>
                <a:path w="2168525" h="609600">
                  <a:moveTo>
                    <a:pt x="0" y="101600"/>
                  </a:moveTo>
                  <a:lnTo>
                    <a:pt x="8000" y="62103"/>
                  </a:lnTo>
                  <a:lnTo>
                    <a:pt x="29717" y="29718"/>
                  </a:lnTo>
                  <a:lnTo>
                    <a:pt x="61975" y="8001"/>
                  </a:lnTo>
                  <a:lnTo>
                    <a:pt x="101600" y="0"/>
                  </a:lnTo>
                  <a:lnTo>
                    <a:pt x="2066544" y="0"/>
                  </a:lnTo>
                  <a:lnTo>
                    <a:pt x="2106167" y="8001"/>
                  </a:lnTo>
                  <a:lnTo>
                    <a:pt x="2138426" y="29718"/>
                  </a:lnTo>
                  <a:lnTo>
                    <a:pt x="2160142" y="62103"/>
                  </a:lnTo>
                  <a:lnTo>
                    <a:pt x="2168144" y="101600"/>
                  </a:lnTo>
                  <a:lnTo>
                    <a:pt x="2168144" y="508000"/>
                  </a:lnTo>
                  <a:lnTo>
                    <a:pt x="2160142" y="547497"/>
                  </a:lnTo>
                  <a:lnTo>
                    <a:pt x="2138426" y="579882"/>
                  </a:lnTo>
                  <a:lnTo>
                    <a:pt x="2106167" y="601599"/>
                  </a:lnTo>
                  <a:lnTo>
                    <a:pt x="2066544" y="609600"/>
                  </a:lnTo>
                  <a:lnTo>
                    <a:pt x="101600" y="609600"/>
                  </a:lnTo>
                  <a:lnTo>
                    <a:pt x="61975" y="601599"/>
                  </a:lnTo>
                  <a:lnTo>
                    <a:pt x="29717" y="579882"/>
                  </a:lnTo>
                  <a:lnTo>
                    <a:pt x="8000" y="547497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21"/>
          <p:cNvSpPr txBox="1"/>
          <p:nvPr/>
        </p:nvSpPr>
        <p:spPr>
          <a:xfrm>
            <a:off x="9995299" y="2875209"/>
            <a:ext cx="105167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Carlito"/>
                <a:cs typeface="Carlito"/>
              </a:rPr>
              <a:t>Root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Note</a:t>
            </a:r>
            <a:endParaRPr sz="1800" dirty="0">
              <a:latin typeface="Carlito"/>
              <a:cs typeface="Carlito"/>
            </a:endParaRPr>
          </a:p>
        </p:txBody>
      </p:sp>
      <p:grpSp>
        <p:nvGrpSpPr>
          <p:cNvPr id="20" name="object 22"/>
          <p:cNvGrpSpPr/>
          <p:nvPr/>
        </p:nvGrpSpPr>
        <p:grpSpPr>
          <a:xfrm>
            <a:off x="9444835" y="3693339"/>
            <a:ext cx="2414485" cy="677816"/>
            <a:chOff x="9415081" y="3757993"/>
            <a:chExt cx="2178050" cy="619125"/>
          </a:xfrm>
        </p:grpSpPr>
        <p:sp>
          <p:nvSpPr>
            <p:cNvPr id="21" name="object 23"/>
            <p:cNvSpPr/>
            <p:nvPr/>
          </p:nvSpPr>
          <p:spPr>
            <a:xfrm>
              <a:off x="9419843" y="3762755"/>
              <a:ext cx="2168525" cy="609600"/>
            </a:xfrm>
            <a:custGeom>
              <a:avLst/>
              <a:gdLst/>
              <a:ahLst/>
              <a:cxnLst/>
              <a:rect l="l" t="t" r="r" b="b"/>
              <a:pathLst>
                <a:path w="2168525" h="609600">
                  <a:moveTo>
                    <a:pt x="2066544" y="0"/>
                  </a:moveTo>
                  <a:lnTo>
                    <a:pt x="101600" y="0"/>
                  </a:lnTo>
                  <a:lnTo>
                    <a:pt x="61975" y="8001"/>
                  </a:lnTo>
                  <a:lnTo>
                    <a:pt x="29717" y="29718"/>
                  </a:lnTo>
                  <a:lnTo>
                    <a:pt x="8000" y="62103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8000" y="547497"/>
                  </a:lnTo>
                  <a:lnTo>
                    <a:pt x="29717" y="579882"/>
                  </a:lnTo>
                  <a:lnTo>
                    <a:pt x="61975" y="601599"/>
                  </a:lnTo>
                  <a:lnTo>
                    <a:pt x="101600" y="609600"/>
                  </a:lnTo>
                  <a:lnTo>
                    <a:pt x="2066544" y="609600"/>
                  </a:lnTo>
                  <a:lnTo>
                    <a:pt x="2106167" y="601599"/>
                  </a:lnTo>
                  <a:lnTo>
                    <a:pt x="2138426" y="579882"/>
                  </a:lnTo>
                  <a:lnTo>
                    <a:pt x="2160142" y="547497"/>
                  </a:lnTo>
                  <a:lnTo>
                    <a:pt x="2168144" y="508000"/>
                  </a:lnTo>
                  <a:lnTo>
                    <a:pt x="2168144" y="101600"/>
                  </a:lnTo>
                  <a:lnTo>
                    <a:pt x="2160142" y="62103"/>
                  </a:lnTo>
                  <a:lnTo>
                    <a:pt x="2138426" y="29718"/>
                  </a:lnTo>
                  <a:lnTo>
                    <a:pt x="2106167" y="8001"/>
                  </a:lnTo>
                  <a:lnTo>
                    <a:pt x="206654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4"/>
            <p:cNvSpPr/>
            <p:nvPr/>
          </p:nvSpPr>
          <p:spPr>
            <a:xfrm>
              <a:off x="9419843" y="3762755"/>
              <a:ext cx="2168525" cy="609600"/>
            </a:xfrm>
            <a:custGeom>
              <a:avLst/>
              <a:gdLst/>
              <a:ahLst/>
              <a:cxnLst/>
              <a:rect l="l" t="t" r="r" b="b"/>
              <a:pathLst>
                <a:path w="2168525" h="609600">
                  <a:moveTo>
                    <a:pt x="0" y="101600"/>
                  </a:moveTo>
                  <a:lnTo>
                    <a:pt x="8000" y="62103"/>
                  </a:lnTo>
                  <a:lnTo>
                    <a:pt x="29717" y="29718"/>
                  </a:lnTo>
                  <a:lnTo>
                    <a:pt x="61975" y="8001"/>
                  </a:lnTo>
                  <a:lnTo>
                    <a:pt x="101600" y="0"/>
                  </a:lnTo>
                  <a:lnTo>
                    <a:pt x="2066544" y="0"/>
                  </a:lnTo>
                  <a:lnTo>
                    <a:pt x="2106167" y="8001"/>
                  </a:lnTo>
                  <a:lnTo>
                    <a:pt x="2138426" y="29718"/>
                  </a:lnTo>
                  <a:lnTo>
                    <a:pt x="2160142" y="62103"/>
                  </a:lnTo>
                  <a:lnTo>
                    <a:pt x="2168144" y="101600"/>
                  </a:lnTo>
                  <a:lnTo>
                    <a:pt x="2168144" y="508000"/>
                  </a:lnTo>
                  <a:lnTo>
                    <a:pt x="2160142" y="547497"/>
                  </a:lnTo>
                  <a:lnTo>
                    <a:pt x="2138426" y="579882"/>
                  </a:lnTo>
                  <a:lnTo>
                    <a:pt x="2106167" y="601599"/>
                  </a:lnTo>
                  <a:lnTo>
                    <a:pt x="2066544" y="609600"/>
                  </a:lnTo>
                  <a:lnTo>
                    <a:pt x="101600" y="609600"/>
                  </a:lnTo>
                  <a:lnTo>
                    <a:pt x="61975" y="601599"/>
                  </a:lnTo>
                  <a:lnTo>
                    <a:pt x="29717" y="579882"/>
                  </a:lnTo>
                  <a:lnTo>
                    <a:pt x="8000" y="547497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5"/>
          <p:cNvSpPr txBox="1"/>
          <p:nvPr/>
        </p:nvSpPr>
        <p:spPr>
          <a:xfrm>
            <a:off x="9665869" y="3877558"/>
            <a:ext cx="197241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rlito"/>
                <a:cs typeface="Carlito"/>
              </a:rPr>
              <a:t>Intermediate</a:t>
            </a:r>
            <a:r>
              <a:rPr sz="1800" spc="17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Note</a:t>
            </a:r>
            <a:endParaRPr sz="1800" dirty="0">
              <a:latin typeface="Carlito"/>
              <a:cs typeface="Carlito"/>
            </a:endParaRPr>
          </a:p>
        </p:txBody>
      </p:sp>
      <p:grpSp>
        <p:nvGrpSpPr>
          <p:cNvPr id="24" name="object 26"/>
          <p:cNvGrpSpPr/>
          <p:nvPr/>
        </p:nvGrpSpPr>
        <p:grpSpPr>
          <a:xfrm>
            <a:off x="9444835" y="4688511"/>
            <a:ext cx="2414485" cy="677816"/>
            <a:chOff x="9415081" y="4753165"/>
            <a:chExt cx="2178050" cy="619125"/>
          </a:xfrm>
        </p:grpSpPr>
        <p:sp>
          <p:nvSpPr>
            <p:cNvPr id="25" name="object 27"/>
            <p:cNvSpPr/>
            <p:nvPr/>
          </p:nvSpPr>
          <p:spPr>
            <a:xfrm>
              <a:off x="9419843" y="4757928"/>
              <a:ext cx="2168525" cy="609600"/>
            </a:xfrm>
            <a:custGeom>
              <a:avLst/>
              <a:gdLst/>
              <a:ahLst/>
              <a:cxnLst/>
              <a:rect l="l" t="t" r="r" b="b"/>
              <a:pathLst>
                <a:path w="2168525" h="609600">
                  <a:moveTo>
                    <a:pt x="2066544" y="0"/>
                  </a:moveTo>
                  <a:lnTo>
                    <a:pt x="101600" y="0"/>
                  </a:lnTo>
                  <a:lnTo>
                    <a:pt x="61975" y="8001"/>
                  </a:lnTo>
                  <a:lnTo>
                    <a:pt x="29717" y="29718"/>
                  </a:lnTo>
                  <a:lnTo>
                    <a:pt x="8000" y="62103"/>
                  </a:lnTo>
                  <a:lnTo>
                    <a:pt x="0" y="101600"/>
                  </a:lnTo>
                  <a:lnTo>
                    <a:pt x="0" y="508000"/>
                  </a:lnTo>
                  <a:lnTo>
                    <a:pt x="8000" y="547497"/>
                  </a:lnTo>
                  <a:lnTo>
                    <a:pt x="29717" y="579882"/>
                  </a:lnTo>
                  <a:lnTo>
                    <a:pt x="61975" y="601599"/>
                  </a:lnTo>
                  <a:lnTo>
                    <a:pt x="101600" y="609600"/>
                  </a:lnTo>
                  <a:lnTo>
                    <a:pt x="2066544" y="609600"/>
                  </a:lnTo>
                  <a:lnTo>
                    <a:pt x="2106167" y="601599"/>
                  </a:lnTo>
                  <a:lnTo>
                    <a:pt x="2138426" y="579882"/>
                  </a:lnTo>
                  <a:lnTo>
                    <a:pt x="2160142" y="547497"/>
                  </a:lnTo>
                  <a:lnTo>
                    <a:pt x="2168144" y="508000"/>
                  </a:lnTo>
                  <a:lnTo>
                    <a:pt x="2168144" y="101600"/>
                  </a:lnTo>
                  <a:lnTo>
                    <a:pt x="2160142" y="62103"/>
                  </a:lnTo>
                  <a:lnTo>
                    <a:pt x="2138426" y="29718"/>
                  </a:lnTo>
                  <a:lnTo>
                    <a:pt x="2106167" y="8001"/>
                  </a:lnTo>
                  <a:lnTo>
                    <a:pt x="206654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8"/>
            <p:cNvSpPr/>
            <p:nvPr/>
          </p:nvSpPr>
          <p:spPr>
            <a:xfrm>
              <a:off x="9419843" y="4757928"/>
              <a:ext cx="2168525" cy="609600"/>
            </a:xfrm>
            <a:custGeom>
              <a:avLst/>
              <a:gdLst/>
              <a:ahLst/>
              <a:cxnLst/>
              <a:rect l="l" t="t" r="r" b="b"/>
              <a:pathLst>
                <a:path w="2168525" h="609600">
                  <a:moveTo>
                    <a:pt x="0" y="101600"/>
                  </a:moveTo>
                  <a:lnTo>
                    <a:pt x="8000" y="62103"/>
                  </a:lnTo>
                  <a:lnTo>
                    <a:pt x="29717" y="29718"/>
                  </a:lnTo>
                  <a:lnTo>
                    <a:pt x="61975" y="8001"/>
                  </a:lnTo>
                  <a:lnTo>
                    <a:pt x="101600" y="0"/>
                  </a:lnTo>
                  <a:lnTo>
                    <a:pt x="2066544" y="0"/>
                  </a:lnTo>
                  <a:lnTo>
                    <a:pt x="2106167" y="8001"/>
                  </a:lnTo>
                  <a:lnTo>
                    <a:pt x="2138426" y="29718"/>
                  </a:lnTo>
                  <a:lnTo>
                    <a:pt x="2160142" y="62103"/>
                  </a:lnTo>
                  <a:lnTo>
                    <a:pt x="2168144" y="101600"/>
                  </a:lnTo>
                  <a:lnTo>
                    <a:pt x="2168144" y="508000"/>
                  </a:lnTo>
                  <a:lnTo>
                    <a:pt x="2160142" y="547497"/>
                  </a:lnTo>
                  <a:lnTo>
                    <a:pt x="2138426" y="579882"/>
                  </a:lnTo>
                  <a:lnTo>
                    <a:pt x="2106167" y="601599"/>
                  </a:lnTo>
                  <a:lnTo>
                    <a:pt x="2066544" y="609600"/>
                  </a:lnTo>
                  <a:lnTo>
                    <a:pt x="101600" y="609600"/>
                  </a:lnTo>
                  <a:lnTo>
                    <a:pt x="61975" y="601599"/>
                  </a:lnTo>
                  <a:lnTo>
                    <a:pt x="29717" y="579882"/>
                  </a:lnTo>
                  <a:lnTo>
                    <a:pt x="8000" y="547497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9"/>
          <p:cNvSpPr txBox="1"/>
          <p:nvPr/>
        </p:nvSpPr>
        <p:spPr>
          <a:xfrm>
            <a:off x="10163583" y="4818110"/>
            <a:ext cx="100591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Leaf</a:t>
            </a:r>
            <a:r>
              <a:rPr sz="1800" spc="-7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Note</a:t>
            </a:r>
            <a:endParaRPr sz="1800" dirty="0">
              <a:latin typeface="Carlito"/>
              <a:cs typeface="Carlito"/>
            </a:endParaRPr>
          </a:p>
        </p:txBody>
      </p:sp>
      <p:grpSp>
        <p:nvGrpSpPr>
          <p:cNvPr id="28" name="object 30"/>
          <p:cNvGrpSpPr/>
          <p:nvPr/>
        </p:nvGrpSpPr>
        <p:grpSpPr>
          <a:xfrm>
            <a:off x="5834669" y="2983346"/>
            <a:ext cx="4007481" cy="83424"/>
            <a:chOff x="5804915" y="3048000"/>
            <a:chExt cx="3615054" cy="76200"/>
          </a:xfrm>
        </p:grpSpPr>
        <p:pic>
          <p:nvPicPr>
            <p:cNvPr id="29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4915" y="3048000"/>
              <a:ext cx="76326" cy="76200"/>
            </a:xfrm>
            <a:prstGeom prst="rect">
              <a:avLst/>
            </a:prstGeom>
          </p:spPr>
        </p:pic>
        <p:sp>
          <p:nvSpPr>
            <p:cNvPr id="30" name="object 32"/>
            <p:cNvSpPr/>
            <p:nvPr/>
          </p:nvSpPr>
          <p:spPr>
            <a:xfrm>
              <a:off x="5881115" y="3070478"/>
              <a:ext cx="3538854" cy="22225"/>
            </a:xfrm>
            <a:custGeom>
              <a:avLst/>
              <a:gdLst/>
              <a:ahLst/>
              <a:cxnLst/>
              <a:rect l="l" t="t" r="r" b="b"/>
              <a:pathLst>
                <a:path w="3538854" h="22225">
                  <a:moveTo>
                    <a:pt x="3538601" y="0"/>
                  </a:moveTo>
                  <a:lnTo>
                    <a:pt x="0" y="9398"/>
                  </a:lnTo>
                  <a:lnTo>
                    <a:pt x="0" y="22098"/>
                  </a:lnTo>
                  <a:lnTo>
                    <a:pt x="3538601" y="12700"/>
                  </a:lnTo>
                  <a:lnTo>
                    <a:pt x="35386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3"/>
          <p:cNvGrpSpPr/>
          <p:nvPr/>
        </p:nvGrpSpPr>
        <p:grpSpPr>
          <a:xfrm>
            <a:off x="8093237" y="3973946"/>
            <a:ext cx="1503597" cy="83424"/>
            <a:chOff x="8063483" y="4038600"/>
            <a:chExt cx="1356360" cy="76200"/>
          </a:xfrm>
        </p:grpSpPr>
        <p:pic>
          <p:nvPicPr>
            <p:cNvPr id="32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63483" y="4038600"/>
              <a:ext cx="76454" cy="76200"/>
            </a:xfrm>
            <a:prstGeom prst="rect">
              <a:avLst/>
            </a:prstGeom>
          </p:spPr>
        </p:pic>
        <p:sp>
          <p:nvSpPr>
            <p:cNvPr id="33" name="object 35"/>
            <p:cNvSpPr/>
            <p:nvPr/>
          </p:nvSpPr>
          <p:spPr>
            <a:xfrm>
              <a:off x="8139683" y="4061332"/>
              <a:ext cx="1280160" cy="21590"/>
            </a:xfrm>
            <a:custGeom>
              <a:avLst/>
              <a:gdLst/>
              <a:ahLst/>
              <a:cxnLst/>
              <a:rect l="l" t="t" r="r" b="b"/>
              <a:pathLst>
                <a:path w="1280159" h="21589">
                  <a:moveTo>
                    <a:pt x="1279779" y="0"/>
                  </a:moveTo>
                  <a:lnTo>
                    <a:pt x="0" y="8890"/>
                  </a:lnTo>
                  <a:lnTo>
                    <a:pt x="126" y="21590"/>
                  </a:lnTo>
                  <a:lnTo>
                    <a:pt x="1279906" y="12700"/>
                  </a:lnTo>
                  <a:lnTo>
                    <a:pt x="12797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4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78326" y="4963022"/>
            <a:ext cx="300719" cy="8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312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vi-VN" spc="-110" dirty="0"/>
              <a:t>Chỉ</a:t>
            </a:r>
            <a:r>
              <a:rPr lang="vi-VN" spc="-300" dirty="0"/>
              <a:t> </a:t>
            </a:r>
            <a:r>
              <a:rPr lang="vi-VN" spc="-20" dirty="0"/>
              <a:t>mục</a:t>
            </a:r>
            <a:r>
              <a:rPr lang="vi-VN" spc="-290" dirty="0"/>
              <a:t> </a:t>
            </a:r>
            <a:r>
              <a:rPr lang="vi-VN" spc="-30" dirty="0"/>
              <a:t>–</a:t>
            </a:r>
            <a:r>
              <a:rPr lang="vi-VN" spc="-495" dirty="0"/>
              <a:t> </a:t>
            </a:r>
            <a:r>
              <a:rPr lang="en-US" spc="-495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endParaRPr dirty="0"/>
          </a:p>
        </p:txBody>
      </p:sp>
      <p:sp>
        <p:nvSpPr>
          <p:cNvPr id="35" name="object 6"/>
          <p:cNvSpPr txBox="1"/>
          <p:nvPr/>
        </p:nvSpPr>
        <p:spPr>
          <a:xfrm>
            <a:off x="965226" y="1561846"/>
            <a:ext cx="10381615" cy="8489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39395" marR="227329" indent="-227329">
              <a:lnSpc>
                <a:spcPts val="2600"/>
              </a:lnSpc>
              <a:spcBef>
                <a:spcPts val="420"/>
              </a:spcBef>
              <a:buChar char="•"/>
              <a:tabLst>
                <a:tab pos="240665" algn="l"/>
              </a:tabLst>
            </a:pPr>
            <a:r>
              <a:rPr sz="1600" i="1" dirty="0">
                <a:latin typeface="Montserrat" pitchFamily="2" charset="0"/>
              </a:rPr>
              <a:t>Chỉ mục phân cụm </a:t>
            </a:r>
            <a:r>
              <a:rPr sz="1600" dirty="0">
                <a:latin typeface="Montserrat" pitchFamily="2" charset="0"/>
              </a:rPr>
              <a:t>- </a:t>
            </a:r>
            <a:r>
              <a:rPr sz="1600" b="1" dirty="0">
                <a:latin typeface="Montserrat" pitchFamily="2" charset="0"/>
              </a:rPr>
              <a:t>Clustered Indexes</a:t>
            </a:r>
            <a:r>
              <a:rPr sz="1600" dirty="0">
                <a:latin typeface="Montserrat" pitchFamily="2" charset="0"/>
              </a:rPr>
              <a:t>: xác định thứ tự lưu trữ thực sự </a:t>
            </a:r>
            <a:r>
              <a:rPr sz="1600" dirty="0" err="1">
                <a:latin typeface="Montserrat" pitchFamily="2" charset="0"/>
              </a:rPr>
              <a:t>của</a:t>
            </a:r>
            <a:r>
              <a:rPr sz="1600" dirty="0">
                <a:latin typeface="Montserrat" pitchFamily="2" charset="0"/>
              </a:rPr>
              <a:t> </a:t>
            </a:r>
            <a:r>
              <a:rPr sz="1600" dirty="0" err="1" smtClean="0">
                <a:latin typeface="Montserrat" pitchFamily="2" charset="0"/>
              </a:rPr>
              <a:t>dữ</a:t>
            </a:r>
            <a:r>
              <a:rPr sz="1600" dirty="0" smtClean="0">
                <a:latin typeface="Montserrat" pitchFamily="2" charset="0"/>
              </a:rPr>
              <a:t> </a:t>
            </a:r>
            <a:r>
              <a:rPr sz="1600" dirty="0">
                <a:latin typeface="Montserrat" pitchFamily="2" charset="0"/>
              </a:rPr>
              <a:t>liệu trong </a:t>
            </a:r>
            <a:r>
              <a:rPr sz="1600" dirty="0" err="1">
                <a:latin typeface="Montserrat" pitchFamily="2" charset="0"/>
              </a:rPr>
              <a:t>bảng</a:t>
            </a:r>
            <a:r>
              <a:rPr sz="1600" dirty="0" smtClean="0">
                <a:latin typeface="Montserrat" pitchFamily="2" charset="0"/>
              </a:rPr>
              <a:t>..</a:t>
            </a:r>
            <a:endParaRPr sz="1600" dirty="0">
              <a:latin typeface="Montserrat" pitchFamily="2" charset="0"/>
            </a:endParaRPr>
          </a:p>
          <a:p>
            <a:pPr marL="239395" marR="5080" indent="-227329">
              <a:lnSpc>
                <a:spcPts val="2590"/>
              </a:lnSpc>
              <a:spcBef>
                <a:spcPts val="1005"/>
              </a:spcBef>
              <a:buChar char="•"/>
              <a:tabLst>
                <a:tab pos="240665" algn="l"/>
              </a:tabLst>
            </a:pPr>
            <a:r>
              <a:rPr sz="1600" i="1" dirty="0">
                <a:latin typeface="Montserrat" pitchFamily="2" charset="0"/>
              </a:rPr>
              <a:t>Chỉ mục không phân cụm </a:t>
            </a:r>
            <a:r>
              <a:rPr sz="1600" dirty="0">
                <a:latin typeface="Montserrat" pitchFamily="2" charset="0"/>
              </a:rPr>
              <a:t>- </a:t>
            </a:r>
            <a:r>
              <a:rPr sz="1600" b="1" dirty="0">
                <a:latin typeface="Montserrat" pitchFamily="2" charset="0"/>
              </a:rPr>
              <a:t>Nonclustered Indexes</a:t>
            </a:r>
            <a:r>
              <a:rPr sz="1600" dirty="0">
                <a:latin typeface="Montserrat" pitchFamily="2" charset="0"/>
              </a:rPr>
              <a:t>: xác định thứ tự lưu </a:t>
            </a:r>
            <a:r>
              <a:rPr sz="1600" dirty="0" err="1">
                <a:latin typeface="Montserrat" pitchFamily="2" charset="0"/>
              </a:rPr>
              <a:t>trữ</a:t>
            </a:r>
            <a:r>
              <a:rPr sz="1600" dirty="0">
                <a:latin typeface="Montserrat" pitchFamily="2" charset="0"/>
              </a:rPr>
              <a:t> </a:t>
            </a:r>
            <a:r>
              <a:rPr sz="1600" dirty="0" err="1" smtClean="0">
                <a:latin typeface="Montserrat" pitchFamily="2" charset="0"/>
              </a:rPr>
              <a:t>dữ</a:t>
            </a:r>
            <a:r>
              <a:rPr sz="1600" dirty="0" smtClean="0">
                <a:latin typeface="Montserrat" pitchFamily="2" charset="0"/>
              </a:rPr>
              <a:t> </a:t>
            </a:r>
            <a:r>
              <a:rPr sz="1600" dirty="0">
                <a:latin typeface="Montserrat" pitchFamily="2" charset="0"/>
              </a:rPr>
              <a:t>liệu logic của bảng. </a:t>
            </a:r>
          </a:p>
        </p:txBody>
      </p:sp>
      <p:sp>
        <p:nvSpPr>
          <p:cNvPr id="36" name="object 7"/>
          <p:cNvSpPr txBox="1"/>
          <p:nvPr/>
        </p:nvSpPr>
        <p:spPr>
          <a:xfrm>
            <a:off x="4735370" y="3318692"/>
            <a:ext cx="2308860" cy="443865"/>
          </a:xfrm>
          <a:prstGeom prst="rect">
            <a:avLst/>
          </a:prstGeom>
          <a:solidFill>
            <a:srgbClr val="5B9BD3"/>
          </a:solidFill>
          <a:ln w="9144">
            <a:solidFill>
              <a:srgbClr val="00000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445"/>
              </a:spcBef>
            </a:pPr>
            <a:r>
              <a:rPr sz="1800" spc="-10" dirty="0">
                <a:latin typeface="Carlito"/>
                <a:cs typeface="Carlito"/>
              </a:rPr>
              <a:t>Index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7" name="object 8"/>
          <p:cNvSpPr txBox="1"/>
          <p:nvPr/>
        </p:nvSpPr>
        <p:spPr>
          <a:xfrm>
            <a:off x="1562401" y="4169083"/>
            <a:ext cx="3268979" cy="407034"/>
          </a:xfrm>
          <a:prstGeom prst="rect">
            <a:avLst/>
          </a:prstGeom>
          <a:solidFill>
            <a:srgbClr val="5B9BD3"/>
          </a:solidFill>
          <a:ln w="9144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3130">
              <a:lnSpc>
                <a:spcPct val="100000"/>
              </a:lnSpc>
              <a:spcBef>
                <a:spcPts val="300"/>
              </a:spcBef>
            </a:pPr>
            <a:r>
              <a:rPr sz="1800" spc="-20" dirty="0">
                <a:latin typeface="Carlito"/>
                <a:cs typeface="Carlito"/>
              </a:rPr>
              <a:t>Clustered</a:t>
            </a:r>
            <a:r>
              <a:rPr sz="1800" spc="-5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Index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8" name="object 9"/>
          <p:cNvSpPr txBox="1"/>
          <p:nvPr/>
        </p:nvSpPr>
        <p:spPr>
          <a:xfrm>
            <a:off x="6529118" y="4169083"/>
            <a:ext cx="3270885" cy="407034"/>
          </a:xfrm>
          <a:prstGeom prst="rect">
            <a:avLst/>
          </a:prstGeom>
          <a:solidFill>
            <a:srgbClr val="5B9BD3"/>
          </a:solidFill>
          <a:ln w="9144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733425">
              <a:lnSpc>
                <a:spcPct val="100000"/>
              </a:lnSpc>
              <a:spcBef>
                <a:spcPts val="300"/>
              </a:spcBef>
            </a:pPr>
            <a:r>
              <a:rPr sz="1800" spc="-20" dirty="0">
                <a:latin typeface="Carlito"/>
                <a:cs typeface="Carlito"/>
              </a:rPr>
              <a:t>Nonclustered</a:t>
            </a:r>
            <a:r>
              <a:rPr sz="1800" spc="5" dirty="0">
                <a:latin typeface="Carlito"/>
                <a:cs typeface="Carlito"/>
              </a:rPr>
              <a:t> </a:t>
            </a:r>
            <a:r>
              <a:rPr sz="1800" spc="-20" dirty="0">
                <a:latin typeface="Carlito"/>
                <a:cs typeface="Carlito"/>
              </a:rPr>
              <a:t>Index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39" name="object 10"/>
          <p:cNvSpPr/>
          <p:nvPr/>
        </p:nvSpPr>
        <p:spPr>
          <a:xfrm>
            <a:off x="3197653" y="3762176"/>
            <a:ext cx="4902835" cy="407034"/>
          </a:xfrm>
          <a:custGeom>
            <a:avLst/>
            <a:gdLst/>
            <a:ahLst/>
            <a:cxnLst/>
            <a:rect l="l" t="t" r="r" b="b"/>
            <a:pathLst>
              <a:path w="4902834" h="407035">
                <a:moveTo>
                  <a:pt x="2692273" y="0"/>
                </a:moveTo>
                <a:lnTo>
                  <a:pt x="2692273" y="203326"/>
                </a:lnTo>
                <a:lnTo>
                  <a:pt x="0" y="203326"/>
                </a:lnTo>
                <a:lnTo>
                  <a:pt x="0" y="406641"/>
                </a:lnTo>
              </a:path>
              <a:path w="4902834" h="407035">
                <a:moveTo>
                  <a:pt x="2691003" y="0"/>
                </a:moveTo>
                <a:lnTo>
                  <a:pt x="2691003" y="203326"/>
                </a:lnTo>
                <a:lnTo>
                  <a:pt x="4902454" y="203326"/>
                </a:lnTo>
                <a:lnTo>
                  <a:pt x="4902454" y="406641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268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vi-VN" spc="-110" dirty="0"/>
              <a:t>Chỉ</a:t>
            </a:r>
            <a:r>
              <a:rPr lang="vi-VN" spc="-300" dirty="0"/>
              <a:t> </a:t>
            </a:r>
            <a:r>
              <a:rPr lang="vi-VN" spc="-20" dirty="0"/>
              <a:t>mục</a:t>
            </a:r>
            <a:r>
              <a:rPr lang="vi-VN" spc="-290" dirty="0"/>
              <a:t> </a:t>
            </a:r>
            <a:r>
              <a:rPr lang="vi-VN" spc="-30" dirty="0"/>
              <a:t>–</a:t>
            </a:r>
            <a:r>
              <a:rPr lang="vi-VN" spc="-495" dirty="0"/>
              <a:t> </a:t>
            </a:r>
            <a:r>
              <a:rPr lang="en-US" spc="-495" dirty="0" smtClean="0"/>
              <a:t> </a:t>
            </a:r>
            <a:r>
              <a:rPr lang="en-US" dirty="0" smtClean="0"/>
              <a:t>So </a:t>
            </a:r>
            <a:r>
              <a:rPr lang="en-US" dirty="0" err="1" smtClean="0"/>
              <a:t>sánh</a:t>
            </a:r>
            <a:endParaRPr dirty="0"/>
          </a:p>
        </p:txBody>
      </p:sp>
      <p:graphicFrame>
        <p:nvGraphicFramePr>
          <p:cNvPr id="8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550448"/>
              </p:ext>
            </p:extLst>
          </p:nvPr>
        </p:nvGraphicFramePr>
        <p:xfrm>
          <a:off x="1021773" y="1737591"/>
          <a:ext cx="10363200" cy="4040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0" baseline="0" dirty="0">
                          <a:latin typeface="Montserrat" pitchFamily="2" charset="0"/>
                          <a:cs typeface="Arial"/>
                        </a:rPr>
                        <a:t>Clustered Indexes</a:t>
                      </a:r>
                    </a:p>
                  </a:txBody>
                  <a:tcPr marL="0" marR="0" marT="222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0" baseline="0" dirty="0">
                          <a:latin typeface="Montserrat" pitchFamily="2" charset="0"/>
                          <a:cs typeface="Arial"/>
                        </a:rPr>
                        <a:t>Nonclustered Indexes</a:t>
                      </a:r>
                    </a:p>
                  </a:txBody>
                  <a:tcPr marL="0" marR="0" marT="222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354">
                <a:tc>
                  <a:txBody>
                    <a:bodyPr/>
                    <a:lstStyle/>
                    <a:p>
                      <a:pPr marL="464820" marR="343535" indent="-34290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Được sử dụng cho các truy vấn trả </a:t>
                      </a:r>
                      <a:r>
                        <a:rPr sz="1800" spc="0" baseline="0" dirty="0" err="1">
                          <a:latin typeface="Montserrat" pitchFamily="2" charset="0"/>
                          <a:cs typeface="Arial"/>
                        </a:rPr>
                        <a:t>về</a:t>
                      </a: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 </a:t>
                      </a:r>
                      <a:r>
                        <a:rPr sz="1800" spc="0" baseline="0" dirty="0" err="1" smtClean="0">
                          <a:latin typeface="Montserrat" pitchFamily="2" charset="0"/>
                          <a:cs typeface="Arial"/>
                        </a:rPr>
                        <a:t>số</a:t>
                      </a:r>
                      <a:r>
                        <a:rPr lang="en-US" sz="1800" spc="0" baseline="0" dirty="0" smtClean="0">
                          <a:latin typeface="Montserrat" pitchFamily="2" charset="0"/>
                          <a:cs typeface="Arial"/>
                        </a:rPr>
                        <a:t> </a:t>
                      </a:r>
                      <a:r>
                        <a:rPr sz="1800" spc="0" baseline="0" dirty="0" err="1" smtClean="0">
                          <a:latin typeface="Montserrat" pitchFamily="2" charset="0"/>
                          <a:cs typeface="Arial"/>
                        </a:rPr>
                        <a:t>lượng</a:t>
                      </a:r>
                      <a:r>
                        <a:rPr sz="1800" spc="0" baseline="0" dirty="0" smtClean="0">
                          <a:latin typeface="Montserrat" pitchFamily="2" charset="0"/>
                          <a:cs typeface="Arial"/>
                        </a:rPr>
                        <a:t> </a:t>
                      </a: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lớn tập kết quả</a:t>
                      </a:r>
                    </a:p>
                  </a:txBody>
                  <a:tcPr marL="0" marR="0" marT="2286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5455" marR="286385" indent="-34290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Được sử dụng cho truy vấn trả về số lượng nhỏ tập kết quả</a:t>
                      </a:r>
                      <a:endParaRPr sz="1800" spc="0" baseline="0">
                        <a:latin typeface="Montserrat" pitchFamily="2" charset="0"/>
                        <a:cs typeface="Arial"/>
                      </a:endParaRPr>
                    </a:p>
                  </a:txBody>
                  <a:tcPr marL="0" marR="0" marT="2286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205">
                <a:tc>
                  <a:txBody>
                    <a:bodyPr/>
                    <a:lstStyle/>
                    <a:p>
                      <a:pPr marL="12192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Chỉ một chỉ mục clustered index có </a:t>
                      </a:r>
                      <a:r>
                        <a:rPr sz="1800" spc="0" baseline="0" dirty="0" err="1">
                          <a:latin typeface="Montserrat" pitchFamily="2" charset="0"/>
                          <a:cs typeface="Arial"/>
                        </a:rPr>
                        <a:t>thể</a:t>
                      </a: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 </a:t>
                      </a:r>
                      <a:r>
                        <a:rPr sz="1800" spc="0" baseline="0" dirty="0" err="1" smtClean="0">
                          <a:latin typeface="Montserrat" pitchFamily="2" charset="0"/>
                          <a:cs typeface="Arial"/>
                        </a:rPr>
                        <a:t>được</a:t>
                      </a:r>
                      <a:r>
                        <a:rPr lang="en-US" sz="1800" spc="0" baseline="0" dirty="0" smtClean="0">
                          <a:latin typeface="Montserrat" pitchFamily="2" charset="0"/>
                          <a:cs typeface="Arial"/>
                        </a:rPr>
                        <a:t> </a:t>
                      </a:r>
                      <a:r>
                        <a:rPr sz="1800" spc="0" baseline="0" dirty="0" err="1" smtClean="0">
                          <a:latin typeface="Montserrat" pitchFamily="2" charset="0"/>
                          <a:cs typeface="Arial"/>
                        </a:rPr>
                        <a:t>tạo</a:t>
                      </a:r>
                      <a:r>
                        <a:rPr sz="1800" spc="0" baseline="0" dirty="0" smtClean="0">
                          <a:latin typeface="Montserrat" pitchFamily="2" charset="0"/>
                          <a:cs typeface="Arial"/>
                        </a:rPr>
                        <a:t> </a:t>
                      </a: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trên một bảng</a:t>
                      </a:r>
                    </a:p>
                  </a:txBody>
                  <a:tcPr marL="0" marR="0" marT="2349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Nhiều chỉ mục nonclustered index có </a:t>
                      </a:r>
                      <a:r>
                        <a:rPr sz="1800" spc="0" baseline="0" dirty="0" err="1">
                          <a:latin typeface="Montserrat" pitchFamily="2" charset="0"/>
                          <a:cs typeface="Arial"/>
                        </a:rPr>
                        <a:t>thể</a:t>
                      </a: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 </a:t>
                      </a:r>
                      <a:r>
                        <a:rPr sz="1800" spc="0" baseline="0" dirty="0" err="1" smtClean="0">
                          <a:latin typeface="Montserrat" pitchFamily="2" charset="0"/>
                          <a:cs typeface="Arial"/>
                        </a:rPr>
                        <a:t>được</a:t>
                      </a:r>
                      <a:r>
                        <a:rPr lang="en-US" sz="1800" spc="0" baseline="0" dirty="0" smtClean="0">
                          <a:latin typeface="Montserrat" pitchFamily="2" charset="0"/>
                          <a:cs typeface="Arial"/>
                        </a:rPr>
                        <a:t> </a:t>
                      </a:r>
                      <a:r>
                        <a:rPr sz="1800" spc="0" baseline="0" dirty="0" err="1" smtClean="0">
                          <a:latin typeface="Montserrat" pitchFamily="2" charset="0"/>
                          <a:cs typeface="Arial"/>
                        </a:rPr>
                        <a:t>tạo</a:t>
                      </a:r>
                      <a:r>
                        <a:rPr sz="1800" spc="0" baseline="0" dirty="0" smtClean="0">
                          <a:latin typeface="Montserrat" pitchFamily="2" charset="0"/>
                          <a:cs typeface="Arial"/>
                        </a:rPr>
                        <a:t> </a:t>
                      </a: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trên bảng, </a:t>
                      </a:r>
                      <a:r>
                        <a:rPr sz="1800" spc="0" baseline="0" dirty="0" err="1" smtClean="0">
                          <a:latin typeface="Montserrat" pitchFamily="2" charset="0"/>
                          <a:cs typeface="Arial"/>
                        </a:rPr>
                        <a:t>tối</a:t>
                      </a:r>
                      <a:r>
                        <a:rPr lang="en-US" sz="1800" spc="0" baseline="0" dirty="0" smtClean="0">
                          <a:latin typeface="Montserrat" pitchFamily="2" charset="0"/>
                          <a:cs typeface="Arial"/>
                        </a:rPr>
                        <a:t> </a:t>
                      </a:r>
                      <a:r>
                        <a:rPr sz="1800" spc="0" baseline="0" dirty="0" err="1" smtClean="0">
                          <a:latin typeface="Montserrat" pitchFamily="2" charset="0"/>
                          <a:cs typeface="Arial"/>
                        </a:rPr>
                        <a:t>đa</a:t>
                      </a:r>
                      <a:r>
                        <a:rPr sz="1800" spc="0" baseline="0" dirty="0" smtClean="0">
                          <a:latin typeface="Montserrat" pitchFamily="2" charset="0"/>
                          <a:cs typeface="Arial"/>
                        </a:rPr>
                        <a:t> </a:t>
                      </a: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là 249</a:t>
                      </a:r>
                    </a:p>
                  </a:txBody>
                  <a:tcPr marL="0" marR="0" marT="2349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715">
                <a:tc>
                  <a:txBody>
                    <a:bodyPr/>
                    <a:lstStyle/>
                    <a:p>
                      <a:pPr marL="464820" marR="779145" indent="-34290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Dữliệu được săp xếp vật lý dựa theo khóa clustered</a:t>
                      </a:r>
                      <a:endParaRPr sz="1800" spc="0" baseline="0">
                        <a:latin typeface="Montserrat" pitchFamily="2" charset="0"/>
                        <a:cs typeface="Arial"/>
                      </a:endParaRPr>
                    </a:p>
                  </a:txBody>
                  <a:tcPr marL="0" marR="0" marT="2413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5455" marR="690245" indent="-34290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Dữ liệu không được sắp xếp dựa theo khóa nonclustered</a:t>
                      </a:r>
                      <a:endParaRPr sz="1800" spc="0" baseline="0">
                        <a:latin typeface="Montserrat" pitchFamily="2" charset="0"/>
                        <a:cs typeface="Arial"/>
                      </a:endParaRPr>
                    </a:p>
                  </a:txBody>
                  <a:tcPr marL="0" marR="0" marT="2413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4715">
                <a:tc>
                  <a:txBody>
                    <a:bodyPr/>
                    <a:lstStyle/>
                    <a:p>
                      <a:pPr marL="12192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Nút lá của chỉ mục clustered chứa </a:t>
                      </a:r>
                      <a:r>
                        <a:rPr sz="1800" spc="0" baseline="0" dirty="0" err="1">
                          <a:latin typeface="Montserrat" pitchFamily="2" charset="0"/>
                          <a:cs typeface="Arial"/>
                        </a:rPr>
                        <a:t>trang</a:t>
                      </a: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 </a:t>
                      </a:r>
                      <a:r>
                        <a:rPr sz="1800" spc="0" baseline="0" dirty="0" err="1" smtClean="0">
                          <a:latin typeface="Montserrat" pitchFamily="2" charset="0"/>
                          <a:cs typeface="Arial"/>
                        </a:rPr>
                        <a:t>dữ</a:t>
                      </a:r>
                      <a:r>
                        <a:rPr lang="en-US" sz="1800" spc="0" baseline="0" dirty="0" smtClean="0">
                          <a:latin typeface="Montserrat" pitchFamily="2" charset="0"/>
                          <a:cs typeface="Arial"/>
                        </a:rPr>
                        <a:t> </a:t>
                      </a:r>
                      <a:r>
                        <a:rPr sz="1800" spc="0" baseline="0" dirty="0" err="1" smtClean="0">
                          <a:latin typeface="Montserrat" pitchFamily="2" charset="0"/>
                          <a:cs typeface="Arial"/>
                        </a:rPr>
                        <a:t>liệu</a:t>
                      </a:r>
                      <a:endParaRPr sz="1800" spc="0" baseline="0" dirty="0">
                        <a:latin typeface="Montserrat" pitchFamily="2" charset="0"/>
                        <a:cs typeface="Arial"/>
                      </a:endParaRPr>
                    </a:p>
                  </a:txBody>
                  <a:tcPr marL="0" marR="0" marT="2413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5455" marR="313690" indent="-34290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Nút lá của chỉ mục nonclustered </a:t>
                      </a:r>
                      <a:r>
                        <a:rPr sz="1800" spc="0" baseline="0" dirty="0" err="1">
                          <a:latin typeface="Montserrat" pitchFamily="2" charset="0"/>
                          <a:cs typeface="Arial"/>
                        </a:rPr>
                        <a:t>chứa</a:t>
                      </a: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 </a:t>
                      </a:r>
                      <a:r>
                        <a:rPr sz="1800" spc="0" baseline="0" dirty="0" err="1" smtClean="0">
                          <a:latin typeface="Montserrat" pitchFamily="2" charset="0"/>
                          <a:cs typeface="Arial"/>
                        </a:rPr>
                        <a:t>trang</a:t>
                      </a:r>
                      <a:r>
                        <a:rPr lang="en-US" sz="1800" spc="0" baseline="0" dirty="0" smtClean="0">
                          <a:latin typeface="Montserrat" pitchFamily="2" charset="0"/>
                          <a:cs typeface="Arial"/>
                        </a:rPr>
                        <a:t> </a:t>
                      </a:r>
                      <a:r>
                        <a:rPr sz="1800" spc="0" baseline="0" dirty="0" err="1" smtClean="0">
                          <a:latin typeface="Montserrat" pitchFamily="2" charset="0"/>
                          <a:cs typeface="Arial"/>
                        </a:rPr>
                        <a:t>dữ</a:t>
                      </a:r>
                      <a:r>
                        <a:rPr sz="1800" spc="0" baseline="0" dirty="0" smtClean="0">
                          <a:latin typeface="Montserrat" pitchFamily="2" charset="0"/>
                          <a:cs typeface="Arial"/>
                        </a:rPr>
                        <a:t> </a:t>
                      </a:r>
                      <a:r>
                        <a:rPr sz="1800" spc="0" baseline="0" dirty="0">
                          <a:latin typeface="Montserrat" pitchFamily="2" charset="0"/>
                          <a:cs typeface="Arial"/>
                        </a:rPr>
                        <a:t>liệu</a:t>
                      </a:r>
                    </a:p>
                  </a:txBody>
                  <a:tcPr marL="0" marR="0" marT="2413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22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vi-VN" spc="-110" dirty="0"/>
              <a:t>Chỉ</a:t>
            </a:r>
            <a:r>
              <a:rPr lang="vi-VN" spc="-300" dirty="0"/>
              <a:t> </a:t>
            </a:r>
            <a:r>
              <a:rPr lang="vi-VN" spc="-20" dirty="0"/>
              <a:t>mục</a:t>
            </a:r>
            <a:r>
              <a:rPr lang="vi-VN" spc="-290" dirty="0"/>
              <a:t> </a:t>
            </a:r>
            <a:r>
              <a:rPr lang="vi-VN" spc="-30" dirty="0"/>
              <a:t>–</a:t>
            </a:r>
            <a:r>
              <a:rPr lang="vi-VN" spc="-495" dirty="0"/>
              <a:t> </a:t>
            </a:r>
            <a:r>
              <a:rPr lang="en-US" spc="-495" dirty="0" smtClean="0"/>
              <a:t> </a:t>
            </a:r>
            <a:r>
              <a:rPr lang="en-US" dirty="0" err="1" smtClean="0"/>
              <a:t>Cú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endParaRPr dirty="0"/>
          </a:p>
        </p:txBody>
      </p:sp>
      <p:sp>
        <p:nvSpPr>
          <p:cNvPr id="4" name="object 6"/>
          <p:cNvSpPr txBox="1"/>
          <p:nvPr/>
        </p:nvSpPr>
        <p:spPr>
          <a:xfrm>
            <a:off x="1094638" y="1900005"/>
            <a:ext cx="10053653" cy="2733056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00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Montserrat" pitchFamily="2" charset="0"/>
              </a:rPr>
              <a:t>Sử dụng câu lệnh “CREATE INDEX”.</a:t>
            </a:r>
          </a:p>
          <a:p>
            <a:pPr marL="240029" indent="-227329">
              <a:lnSpc>
                <a:spcPct val="100000"/>
              </a:lnSpc>
              <a:spcBef>
                <a:spcPts val="700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Montserrat" pitchFamily="2" charset="0"/>
              </a:rPr>
              <a:t>Cú pháp:</a:t>
            </a:r>
          </a:p>
          <a:p>
            <a:pPr marL="240665">
              <a:lnSpc>
                <a:spcPct val="100000"/>
              </a:lnSpc>
              <a:spcBef>
                <a:spcPts val="1520"/>
              </a:spcBef>
            </a:pPr>
            <a:r>
              <a:rPr lang="en-US" sz="2000" dirty="0" smtClean="0">
                <a:latin typeface="Montserrat" pitchFamily="2" charset="0"/>
              </a:rPr>
              <a:t>	</a:t>
            </a:r>
            <a:r>
              <a:rPr sz="2000" dirty="0" smtClean="0">
                <a:solidFill>
                  <a:schemeClr val="accent1"/>
                </a:solidFill>
                <a:latin typeface="Montserrat" pitchFamily="2" charset="0"/>
              </a:rPr>
              <a:t>CREATE </a:t>
            </a:r>
            <a:r>
              <a:rPr sz="2000" dirty="0">
                <a:solidFill>
                  <a:schemeClr val="accent1"/>
                </a:solidFill>
                <a:latin typeface="Montserrat" pitchFamily="2" charset="0"/>
              </a:rPr>
              <a:t>UNIQUE INDEX </a:t>
            </a:r>
            <a:r>
              <a:rPr sz="2000" dirty="0">
                <a:latin typeface="Montserrat" pitchFamily="2" charset="0"/>
              </a:rPr>
              <a:t>index_name</a:t>
            </a:r>
          </a:p>
          <a:p>
            <a:pPr marL="240665">
              <a:lnSpc>
                <a:spcPct val="100000"/>
              </a:lnSpc>
              <a:spcBef>
                <a:spcPts val="1500"/>
              </a:spcBef>
            </a:pPr>
            <a:r>
              <a:rPr lang="en-US" sz="2000" dirty="0" smtClean="0">
                <a:latin typeface="Montserrat" pitchFamily="2" charset="0"/>
              </a:rPr>
              <a:t>	</a:t>
            </a:r>
            <a:r>
              <a:rPr sz="2000" dirty="0" smtClean="0">
                <a:solidFill>
                  <a:schemeClr val="accent1"/>
                </a:solidFill>
                <a:latin typeface="Montserrat" pitchFamily="2" charset="0"/>
              </a:rPr>
              <a:t>ON</a:t>
            </a:r>
            <a:r>
              <a:rPr sz="2000" dirty="0" smtClean="0">
                <a:latin typeface="Montserrat" pitchFamily="2" charset="0"/>
              </a:rPr>
              <a:t> </a:t>
            </a:r>
            <a:r>
              <a:rPr sz="2000" dirty="0">
                <a:latin typeface="Montserrat" pitchFamily="2" charset="0"/>
              </a:rPr>
              <a:t>table_name ( column1, column2</a:t>
            </a:r>
            <a:r>
              <a:rPr sz="2000" dirty="0" smtClean="0">
                <a:latin typeface="Montserrat" pitchFamily="2" charset="0"/>
              </a:rPr>
              <a:t>,...);</a:t>
            </a:r>
            <a:endParaRPr lang="en-US" sz="2000" dirty="0" smtClean="0">
              <a:latin typeface="Montserrat" pitchFamily="2" charset="0"/>
            </a:endParaRPr>
          </a:p>
          <a:p>
            <a:pPr marL="583565" indent="-342900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</a:pPr>
            <a:r>
              <a:rPr sz="2000" dirty="0" err="1" smtClean="0">
                <a:latin typeface="Montserrat" pitchFamily="2" charset="0"/>
              </a:rPr>
              <a:t>Ví</a:t>
            </a:r>
            <a:r>
              <a:rPr sz="2000" dirty="0" smtClean="0">
                <a:latin typeface="Montserrat" pitchFamily="2" charset="0"/>
              </a:rPr>
              <a:t> </a:t>
            </a:r>
            <a:r>
              <a:rPr sz="2000" dirty="0" err="1">
                <a:latin typeface="Montserrat" pitchFamily="2" charset="0"/>
              </a:rPr>
              <a:t>dụ</a:t>
            </a:r>
            <a:r>
              <a:rPr sz="2000" dirty="0" smtClean="0">
                <a:latin typeface="Montserrat" pitchFamily="2" charset="0"/>
              </a:rPr>
              <a:t>:</a:t>
            </a:r>
            <a:r>
              <a:rPr lang="en-US" sz="2000" dirty="0" smtClean="0">
                <a:latin typeface="Montserrat" pitchFamily="2" charset="0"/>
              </a:rPr>
              <a:t> </a:t>
            </a:r>
            <a:r>
              <a:rPr lang="en-US" sz="2000" dirty="0" err="1" smtClean="0">
                <a:latin typeface="Montserrat" pitchFamily="2" charset="0"/>
              </a:rPr>
              <a:t>tạo</a:t>
            </a:r>
            <a:r>
              <a:rPr lang="en-US" sz="2000" dirty="0" smtClean="0">
                <a:latin typeface="Montserrat" pitchFamily="2" charset="0"/>
              </a:rPr>
              <a:t> </a:t>
            </a:r>
            <a:r>
              <a:rPr lang="en-US" sz="2000" dirty="0" err="1" smtClean="0">
                <a:latin typeface="Montserrat" pitchFamily="2" charset="0"/>
              </a:rPr>
              <a:t>chỉ</a:t>
            </a:r>
            <a:r>
              <a:rPr lang="en-US" sz="2000" dirty="0" smtClean="0">
                <a:latin typeface="Montserrat" pitchFamily="2" charset="0"/>
              </a:rPr>
              <a:t> </a:t>
            </a:r>
            <a:r>
              <a:rPr lang="en-US" sz="2000" dirty="0" err="1" smtClean="0">
                <a:latin typeface="Montserrat" pitchFamily="2" charset="0"/>
              </a:rPr>
              <a:t>mục</a:t>
            </a:r>
            <a:r>
              <a:rPr lang="en-US" sz="2000" dirty="0" smtClean="0">
                <a:latin typeface="Montserrat" pitchFamily="2" charset="0"/>
              </a:rPr>
              <a:t> </a:t>
            </a:r>
            <a:r>
              <a:rPr lang="en-US" sz="2000" dirty="0" err="1" smtClean="0">
                <a:latin typeface="Montserrat" pitchFamily="2" charset="0"/>
              </a:rPr>
              <a:t>cho</a:t>
            </a:r>
            <a:r>
              <a:rPr lang="en-US" sz="2000" dirty="0" smtClean="0">
                <a:latin typeface="Montserrat" pitchFamily="2" charset="0"/>
              </a:rPr>
              <a:t> </a:t>
            </a:r>
            <a:r>
              <a:rPr lang="en-US" sz="2000" dirty="0" err="1" smtClean="0">
                <a:latin typeface="Montserrat" pitchFamily="2" charset="0"/>
              </a:rPr>
              <a:t>cột</a:t>
            </a:r>
            <a:r>
              <a:rPr lang="en-US" sz="2000" dirty="0" smtClean="0">
                <a:latin typeface="Montserrat" pitchFamily="2" charset="0"/>
              </a:rPr>
              <a:t> email </a:t>
            </a:r>
            <a:r>
              <a:rPr lang="en-US" sz="2000" dirty="0" err="1" smtClean="0">
                <a:latin typeface="Montserrat" pitchFamily="2" charset="0"/>
              </a:rPr>
              <a:t>của</a:t>
            </a:r>
            <a:r>
              <a:rPr lang="en-US" sz="2000" dirty="0" smtClean="0">
                <a:latin typeface="Montserrat" pitchFamily="2" charset="0"/>
              </a:rPr>
              <a:t> </a:t>
            </a:r>
            <a:r>
              <a:rPr lang="en-US" sz="2000" dirty="0" err="1" smtClean="0">
                <a:latin typeface="Montserrat" pitchFamily="2" charset="0"/>
              </a:rPr>
              <a:t>bảng</a:t>
            </a:r>
            <a:r>
              <a:rPr lang="en-US" sz="2000" dirty="0" smtClean="0">
                <a:latin typeface="Montserrat" pitchFamily="2" charset="0"/>
              </a:rPr>
              <a:t> Users :</a:t>
            </a:r>
            <a:endParaRPr sz="2000" dirty="0">
              <a:latin typeface="Montserrat" pitchFamily="2" charset="0"/>
            </a:endParaRPr>
          </a:p>
          <a:p>
            <a:pPr marL="240665" marR="743585">
              <a:lnSpc>
                <a:spcPct val="137900"/>
              </a:lnSpc>
              <a:spcBef>
                <a:spcPts val="30"/>
              </a:spcBef>
            </a:pPr>
            <a:r>
              <a:rPr sz="2000" dirty="0">
                <a:solidFill>
                  <a:schemeClr val="accent1"/>
                </a:solidFill>
                <a:latin typeface="Montserrat" pitchFamily="2" charset="0"/>
              </a:rPr>
              <a:t>CREATE UNIQUE INDEX </a:t>
            </a:r>
            <a:r>
              <a:rPr sz="2000" dirty="0">
                <a:latin typeface="Montserrat" pitchFamily="2" charset="0"/>
              </a:rPr>
              <a:t>user_email </a:t>
            </a:r>
            <a:r>
              <a:rPr sz="2000" dirty="0">
                <a:solidFill>
                  <a:schemeClr val="accent1"/>
                </a:solidFill>
                <a:latin typeface="Montserrat" pitchFamily="2" charset="0"/>
              </a:rPr>
              <a:t>ON</a:t>
            </a:r>
            <a:r>
              <a:rPr sz="2000" dirty="0">
                <a:latin typeface="Montserrat" pitchFamily="2" charset="0"/>
              </a:rPr>
              <a:t> users (email);</a:t>
            </a:r>
          </a:p>
        </p:txBody>
      </p:sp>
    </p:spTree>
    <p:extLst>
      <p:ext uri="{BB962C8B-B14F-4D97-AF65-F5344CB8AC3E}">
        <p14:creationId xmlns:p14="http://schemas.microsoft.com/office/powerpoint/2010/main" val="1494191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pc="-85" dirty="0" err="1"/>
              <a:t>Khái</a:t>
            </a:r>
            <a:r>
              <a:rPr lang="en-US" spc="-225" dirty="0"/>
              <a:t> </a:t>
            </a:r>
            <a:r>
              <a:rPr lang="en-US" dirty="0" err="1"/>
              <a:t>niệm</a:t>
            </a:r>
            <a:r>
              <a:rPr lang="en-US" spc="5" dirty="0"/>
              <a:t> </a:t>
            </a:r>
            <a:r>
              <a:rPr lang="en-US" dirty="0" err="1"/>
              <a:t>về</a:t>
            </a:r>
            <a:r>
              <a:rPr lang="en-US" spc="-160" dirty="0"/>
              <a:t> </a:t>
            </a:r>
            <a:r>
              <a:rPr lang="en-US" dirty="0" err="1"/>
              <a:t>khung</a:t>
            </a:r>
            <a:r>
              <a:rPr lang="en-US" spc="-55" dirty="0"/>
              <a:t> </a:t>
            </a:r>
            <a:r>
              <a:rPr lang="en-US" dirty="0" err="1"/>
              <a:t>nhìn</a:t>
            </a:r>
            <a:r>
              <a:rPr lang="en-US" spc="-85" dirty="0"/>
              <a:t> </a:t>
            </a:r>
            <a:r>
              <a:rPr lang="en-US" dirty="0"/>
              <a:t>-</a:t>
            </a:r>
            <a:r>
              <a:rPr lang="en-US" spc="235" dirty="0"/>
              <a:t> </a:t>
            </a:r>
            <a:r>
              <a:rPr lang="en-US" spc="-20" dirty="0" smtClean="0"/>
              <a:t>View</a:t>
            </a:r>
            <a:endParaRPr dirty="0"/>
          </a:p>
        </p:txBody>
      </p:sp>
      <p:sp>
        <p:nvSpPr>
          <p:cNvPr id="4" name="object 3"/>
          <p:cNvSpPr txBox="1"/>
          <p:nvPr/>
        </p:nvSpPr>
        <p:spPr>
          <a:xfrm>
            <a:off x="1065071" y="1311097"/>
            <a:ext cx="10452673" cy="1725472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39395" marR="5080" indent="-227329">
              <a:lnSpc>
                <a:spcPts val="3000"/>
              </a:lnSpc>
              <a:spcBef>
                <a:spcPts val="495"/>
              </a:spcBef>
              <a:buChar char="•"/>
              <a:tabLst>
                <a:tab pos="240665" algn="l"/>
                <a:tab pos="5250815" algn="l"/>
              </a:tabLst>
            </a:pPr>
            <a:r>
              <a:rPr sz="1800" dirty="0">
                <a:latin typeface="Montserrat" pitchFamily="2" charset="0"/>
              </a:rPr>
              <a:t>Một </a:t>
            </a:r>
            <a:r>
              <a:rPr sz="1800" b="1" dirty="0">
                <a:latin typeface="Montserrat" pitchFamily="2" charset="0"/>
              </a:rPr>
              <a:t>view</a:t>
            </a:r>
            <a:r>
              <a:rPr sz="1800" dirty="0">
                <a:latin typeface="Montserrat" pitchFamily="2" charset="0"/>
              </a:rPr>
              <a:t> là một bảng </a:t>
            </a:r>
            <a:r>
              <a:rPr sz="1800" dirty="0" err="1">
                <a:latin typeface="Montserrat" pitchFamily="2" charset="0"/>
              </a:rPr>
              <a:t>ảo</a:t>
            </a:r>
            <a:r>
              <a:rPr sz="1800" dirty="0">
                <a:latin typeface="Montserrat" pitchFamily="2" charset="0"/>
              </a:rPr>
              <a:t> </a:t>
            </a:r>
            <a:r>
              <a:rPr sz="1800" dirty="0" err="1" smtClean="0">
                <a:latin typeface="Montserrat" pitchFamily="2" charset="0"/>
              </a:rPr>
              <a:t>được</a:t>
            </a:r>
            <a:r>
              <a:rPr lang="en-US" sz="1800" dirty="0" smtClean="0">
                <a:latin typeface="Montserrat" pitchFamily="2" charset="0"/>
              </a:rPr>
              <a:t> </a:t>
            </a:r>
            <a:r>
              <a:rPr sz="1800" dirty="0" err="1" smtClean="0">
                <a:latin typeface="Montserrat" pitchFamily="2" charset="0"/>
              </a:rPr>
              <a:t>tạo</a:t>
            </a:r>
            <a:r>
              <a:rPr sz="1800" dirty="0" smtClean="0">
                <a:latin typeface="Montserrat" pitchFamily="2" charset="0"/>
              </a:rPr>
              <a:t> </a:t>
            </a:r>
            <a:r>
              <a:rPr sz="1800" dirty="0">
                <a:latin typeface="Montserrat" pitchFamily="2" charset="0"/>
              </a:rPr>
              <a:t>ra từ việc tập hợp các </a:t>
            </a:r>
            <a:r>
              <a:rPr sz="1800" dirty="0" err="1">
                <a:latin typeface="Montserrat" pitchFamily="2" charset="0"/>
              </a:rPr>
              <a:t>cột</a:t>
            </a:r>
            <a:r>
              <a:rPr sz="1800" dirty="0">
                <a:latin typeface="Montserrat" pitchFamily="2" charset="0"/>
              </a:rPr>
              <a:t> </a:t>
            </a:r>
            <a:r>
              <a:rPr sz="1800" dirty="0" err="1" smtClean="0">
                <a:latin typeface="Montserrat" pitchFamily="2" charset="0"/>
              </a:rPr>
              <a:t>của</a:t>
            </a:r>
            <a:r>
              <a:rPr sz="1800" dirty="0" smtClean="0">
                <a:latin typeface="Montserrat" pitchFamily="2" charset="0"/>
              </a:rPr>
              <a:t> </a:t>
            </a:r>
            <a:r>
              <a:rPr sz="1800" dirty="0">
                <a:latin typeface="Montserrat" pitchFamily="2" charset="0"/>
              </a:rPr>
              <a:t>một hoặc </a:t>
            </a:r>
            <a:r>
              <a:rPr sz="1800" dirty="0" err="1">
                <a:latin typeface="Montserrat" pitchFamily="2" charset="0"/>
              </a:rPr>
              <a:t>nhiều</a:t>
            </a:r>
            <a:r>
              <a:rPr sz="1800" dirty="0">
                <a:latin typeface="Montserrat" pitchFamily="2" charset="0"/>
              </a:rPr>
              <a:t> </a:t>
            </a:r>
            <a:r>
              <a:rPr sz="1800" dirty="0" err="1" smtClean="0">
                <a:latin typeface="Montserrat" pitchFamily="2" charset="0"/>
              </a:rPr>
              <a:t>bảng</a:t>
            </a:r>
            <a:r>
              <a:rPr lang="en-US" sz="1800" dirty="0" smtClean="0">
                <a:latin typeface="Montserrat" pitchFamily="2" charset="0"/>
              </a:rPr>
              <a:t>.</a:t>
            </a:r>
            <a:endParaRPr sz="1800" dirty="0">
              <a:latin typeface="Montserrat" pitchFamily="2" charset="0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Char char="•"/>
              <a:tabLst>
                <a:tab pos="240029" algn="l"/>
              </a:tabLst>
            </a:pPr>
            <a:r>
              <a:rPr sz="1800" dirty="0">
                <a:latin typeface="Montserrat" pitchFamily="2" charset="0"/>
              </a:rPr>
              <a:t>Một view có thể bao gồm các cột của một view </a:t>
            </a:r>
            <a:r>
              <a:rPr sz="1800" dirty="0" err="1" smtClean="0">
                <a:latin typeface="Montserrat" pitchFamily="2" charset="0"/>
              </a:rPr>
              <a:t>khác</a:t>
            </a:r>
            <a:r>
              <a:rPr lang="en-US" sz="1800" dirty="0" smtClean="0">
                <a:latin typeface="Montserrat" pitchFamily="2" charset="0"/>
              </a:rPr>
              <a:t>.</a:t>
            </a:r>
            <a:endParaRPr sz="1800" dirty="0">
              <a:latin typeface="Montserrat" pitchFamily="2" charset="0"/>
            </a:endParaRPr>
          </a:p>
          <a:p>
            <a:pPr marL="239395" marR="780415" indent="-227329">
              <a:lnSpc>
                <a:spcPts val="3180"/>
              </a:lnSpc>
              <a:spcBef>
                <a:spcPts val="819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Montserrat" pitchFamily="2" charset="0"/>
              </a:rPr>
              <a:t>Dữ liệu trong view được tập hợp từ các bảng cơ </a:t>
            </a:r>
            <a:r>
              <a:rPr sz="1800" dirty="0" err="1">
                <a:latin typeface="Montserrat" pitchFamily="2" charset="0"/>
              </a:rPr>
              <a:t>sở</a:t>
            </a:r>
            <a:r>
              <a:rPr sz="1800" dirty="0">
                <a:latin typeface="Montserrat" pitchFamily="2" charset="0"/>
              </a:rPr>
              <a:t> </a:t>
            </a:r>
            <a:r>
              <a:rPr sz="1800" dirty="0" err="1" smtClean="0">
                <a:latin typeface="Montserrat" pitchFamily="2" charset="0"/>
              </a:rPr>
              <a:t>tham</a:t>
            </a:r>
            <a:r>
              <a:rPr lang="en-US" sz="1800" dirty="0" smtClean="0">
                <a:latin typeface="Montserrat" pitchFamily="2" charset="0"/>
              </a:rPr>
              <a:t> </a:t>
            </a:r>
            <a:r>
              <a:rPr lang="en-US" sz="1800" dirty="0" err="1" smtClean="0">
                <a:latin typeface="Montserrat" pitchFamily="2" charset="0"/>
              </a:rPr>
              <a:t>chiếu</a:t>
            </a:r>
            <a:r>
              <a:rPr lang="en-US" sz="1800" dirty="0" smtClean="0">
                <a:latin typeface="Montserrat" pitchFamily="2" charset="0"/>
              </a:rPr>
              <a:t> </a:t>
            </a:r>
            <a:r>
              <a:rPr sz="1800" dirty="0" err="1" smtClean="0">
                <a:latin typeface="Montserrat" pitchFamily="2" charset="0"/>
              </a:rPr>
              <a:t>đến</a:t>
            </a:r>
            <a:r>
              <a:rPr sz="1800" dirty="0" smtClean="0">
                <a:latin typeface="Montserrat" pitchFamily="2" charset="0"/>
              </a:rPr>
              <a:t> </a:t>
            </a:r>
            <a:r>
              <a:rPr sz="1800" dirty="0">
                <a:latin typeface="Montserrat" pitchFamily="2" charset="0"/>
              </a:rPr>
              <a:t>khi định </a:t>
            </a:r>
            <a:r>
              <a:rPr sz="1800" dirty="0" err="1">
                <a:latin typeface="Montserrat" pitchFamily="2" charset="0"/>
              </a:rPr>
              <a:t>nghĩa</a:t>
            </a:r>
            <a:r>
              <a:rPr sz="1800" dirty="0">
                <a:latin typeface="Montserrat" pitchFamily="2" charset="0"/>
              </a:rPr>
              <a:t> </a:t>
            </a:r>
            <a:r>
              <a:rPr sz="1800" dirty="0" smtClean="0">
                <a:latin typeface="Montserrat" pitchFamily="2" charset="0"/>
              </a:rPr>
              <a:t>view</a:t>
            </a:r>
            <a:r>
              <a:rPr lang="en-US" sz="1800" dirty="0" smtClean="0">
                <a:latin typeface="Montserrat" pitchFamily="2" charset="0"/>
              </a:rPr>
              <a:t>.</a:t>
            </a:r>
            <a:endParaRPr sz="1800" dirty="0">
              <a:latin typeface="Montserrat" pitchFamily="2" charset="0"/>
            </a:endParaRPr>
          </a:p>
        </p:txBody>
      </p:sp>
      <p:pic>
        <p:nvPicPr>
          <p:cNvPr id="5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6398" y="2922526"/>
            <a:ext cx="6659418" cy="305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6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pc="-85" dirty="0" err="1"/>
              <a:t>Khái</a:t>
            </a:r>
            <a:r>
              <a:rPr lang="en-US" spc="-225" dirty="0"/>
              <a:t> </a:t>
            </a:r>
            <a:r>
              <a:rPr lang="en-US" dirty="0" err="1"/>
              <a:t>niệm</a:t>
            </a:r>
            <a:r>
              <a:rPr lang="en-US" spc="5" dirty="0"/>
              <a:t> </a:t>
            </a:r>
            <a:r>
              <a:rPr lang="en-US" dirty="0" err="1"/>
              <a:t>về</a:t>
            </a:r>
            <a:r>
              <a:rPr lang="en-US" spc="-160" dirty="0"/>
              <a:t> </a:t>
            </a:r>
            <a:r>
              <a:rPr lang="en-US" dirty="0" smtClean="0"/>
              <a:t>View–</a:t>
            </a:r>
            <a:r>
              <a:rPr lang="en-US" spc="235" dirty="0" smtClean="0"/>
              <a:t> </a:t>
            </a:r>
            <a:r>
              <a:rPr lang="en-US" spc="-20" dirty="0" err="1" smtClean="0"/>
              <a:t>Cú</a:t>
            </a:r>
            <a:r>
              <a:rPr lang="en-US" spc="-20" dirty="0" smtClean="0"/>
              <a:t> </a:t>
            </a:r>
            <a:r>
              <a:rPr lang="en-US" spc="-20" dirty="0" err="1" smtClean="0"/>
              <a:t>pháp</a:t>
            </a:r>
            <a:endParaRPr dirty="0"/>
          </a:p>
        </p:txBody>
      </p:sp>
      <p:sp>
        <p:nvSpPr>
          <p:cNvPr id="6" name="object 3"/>
          <p:cNvSpPr txBox="1"/>
          <p:nvPr/>
        </p:nvSpPr>
        <p:spPr>
          <a:xfrm>
            <a:off x="1130604" y="1475612"/>
            <a:ext cx="4420451" cy="21409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729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52729" algn="l"/>
              </a:tabLst>
            </a:pPr>
            <a:r>
              <a:rPr lang="en-US" sz="2000" spc="-100" dirty="0" err="1" smtClean="0">
                <a:latin typeface="Montserrat" pitchFamily="2" charset="0"/>
              </a:rPr>
              <a:t>Tạo</a:t>
            </a:r>
            <a:r>
              <a:rPr lang="en-US" sz="2000" spc="-100" dirty="0" smtClean="0">
                <a:latin typeface="Montserrat" pitchFamily="2" charset="0"/>
              </a:rPr>
              <a:t> View :</a:t>
            </a:r>
          </a:p>
          <a:p>
            <a:pPr marL="24764">
              <a:lnSpc>
                <a:spcPct val="100000"/>
              </a:lnSpc>
              <a:spcBef>
                <a:spcPts val="95"/>
              </a:spcBef>
              <a:tabLst>
                <a:tab pos="252729" algn="l"/>
              </a:tabLst>
            </a:pPr>
            <a:endParaRPr lang="en-US" sz="1800" dirty="0" smtClean="0">
              <a:latin typeface="Montserrat" pitchFamily="2" charset="0"/>
            </a:endParaRPr>
          </a:p>
          <a:p>
            <a:pPr marL="24764">
              <a:lnSpc>
                <a:spcPct val="100000"/>
              </a:lnSpc>
              <a:spcBef>
                <a:spcPts val="95"/>
              </a:spcBef>
              <a:tabLst>
                <a:tab pos="252729" algn="l"/>
              </a:tabLst>
            </a:pP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CREATE</a:t>
            </a:r>
            <a:r>
              <a:rPr lang="en-US" sz="1800" dirty="0" smtClean="0">
                <a:solidFill>
                  <a:schemeClr val="accent1"/>
                </a:solidFill>
                <a:latin typeface="Montserrat" pitchFamily="2" charset="0"/>
              </a:rPr>
              <a:t> </a:t>
            </a: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VIEW </a:t>
            </a:r>
            <a:r>
              <a:rPr sz="1800" dirty="0" err="1">
                <a:latin typeface="Montserrat" pitchFamily="2" charset="0"/>
              </a:rPr>
              <a:t>view_name</a:t>
            </a:r>
            <a:r>
              <a:rPr sz="1800" dirty="0">
                <a:latin typeface="Montserrat" pitchFamily="2" charset="0"/>
              </a:rPr>
              <a:t> </a:t>
            </a:r>
            <a:endParaRPr lang="en-US" sz="1800" dirty="0" smtClean="0">
              <a:latin typeface="Montserrat" pitchFamily="2" charset="0"/>
            </a:endParaRPr>
          </a:p>
          <a:p>
            <a:pPr marL="24764">
              <a:lnSpc>
                <a:spcPct val="100000"/>
              </a:lnSpc>
              <a:spcBef>
                <a:spcPts val="95"/>
              </a:spcBef>
              <a:tabLst>
                <a:tab pos="252729" algn="l"/>
              </a:tabLst>
            </a:pP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AS </a:t>
            </a:r>
            <a:endParaRPr lang="en-US" sz="1800" dirty="0" smtClean="0">
              <a:solidFill>
                <a:schemeClr val="accent1"/>
              </a:solidFill>
              <a:latin typeface="Montserrat" pitchFamily="2" charset="0"/>
            </a:endParaRPr>
          </a:p>
          <a:p>
            <a:pPr marL="24764">
              <a:lnSpc>
                <a:spcPct val="100000"/>
              </a:lnSpc>
              <a:spcBef>
                <a:spcPts val="95"/>
              </a:spcBef>
              <a:tabLst>
                <a:tab pos="252729" algn="l"/>
              </a:tabLst>
            </a:pP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SELECT</a:t>
            </a:r>
            <a:r>
              <a:rPr sz="1800" dirty="0" smtClean="0">
                <a:latin typeface="Montserrat" pitchFamily="2" charset="0"/>
              </a:rPr>
              <a:t> </a:t>
            </a:r>
            <a:r>
              <a:rPr sz="1800" dirty="0">
                <a:latin typeface="Montserrat" pitchFamily="2" charset="0"/>
              </a:rPr>
              <a:t>column1, column2..... </a:t>
            </a:r>
            <a:endParaRPr lang="en-US" sz="1800" dirty="0" smtClean="0">
              <a:latin typeface="Montserrat" pitchFamily="2" charset="0"/>
            </a:endParaRPr>
          </a:p>
          <a:p>
            <a:pPr marL="24764">
              <a:lnSpc>
                <a:spcPct val="100000"/>
              </a:lnSpc>
              <a:spcBef>
                <a:spcPts val="95"/>
              </a:spcBef>
              <a:tabLst>
                <a:tab pos="252729" algn="l"/>
              </a:tabLst>
            </a:pP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FROM</a:t>
            </a:r>
            <a:r>
              <a:rPr sz="1800" dirty="0" smtClean="0">
                <a:latin typeface="Montserrat" pitchFamily="2" charset="0"/>
              </a:rPr>
              <a:t> </a:t>
            </a:r>
            <a:r>
              <a:rPr sz="1800" dirty="0">
                <a:latin typeface="Montserrat" pitchFamily="2" charset="0"/>
              </a:rPr>
              <a:t>table_name</a:t>
            </a:r>
          </a:p>
          <a:p>
            <a:pPr marL="12700" algn="just">
              <a:lnSpc>
                <a:spcPts val="2860"/>
              </a:lnSpc>
            </a:pPr>
            <a:r>
              <a:rPr sz="1800" dirty="0">
                <a:solidFill>
                  <a:schemeClr val="accent1"/>
                </a:solidFill>
                <a:latin typeface="Montserrat" pitchFamily="2" charset="0"/>
              </a:rPr>
              <a:t>WHERE</a:t>
            </a:r>
            <a:r>
              <a:rPr sz="1800" dirty="0">
                <a:latin typeface="Montserrat" pitchFamily="2" charset="0"/>
              </a:rPr>
              <a:t> [condition</a:t>
            </a:r>
            <a:r>
              <a:rPr sz="1800" dirty="0" smtClean="0">
                <a:latin typeface="Montserrat" pitchFamily="2" charset="0"/>
              </a:rPr>
              <a:t>];</a:t>
            </a:r>
            <a:endParaRPr sz="1800" dirty="0">
              <a:latin typeface="Montserrat" pitchFamily="2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6824822" y="1600303"/>
            <a:ext cx="4420451" cy="21409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729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52729" algn="l"/>
              </a:tabLst>
            </a:pPr>
            <a:r>
              <a:rPr lang="en-US" sz="2000" spc="-100" dirty="0" err="1" smtClean="0">
                <a:latin typeface="Montserrat" pitchFamily="2" charset="0"/>
              </a:rPr>
              <a:t>Ví</a:t>
            </a:r>
            <a:r>
              <a:rPr lang="en-US" sz="2000" spc="-100" dirty="0" smtClean="0">
                <a:latin typeface="Montserrat" pitchFamily="2" charset="0"/>
              </a:rPr>
              <a:t> </a:t>
            </a:r>
            <a:r>
              <a:rPr lang="en-US" sz="2000" spc="-100" dirty="0" err="1" smtClean="0">
                <a:latin typeface="Montserrat" pitchFamily="2" charset="0"/>
              </a:rPr>
              <a:t>dụ</a:t>
            </a:r>
            <a:r>
              <a:rPr lang="en-US" sz="2000" spc="-100" dirty="0" smtClean="0">
                <a:latin typeface="Montserrat" pitchFamily="2" charset="0"/>
              </a:rPr>
              <a:t>:</a:t>
            </a:r>
          </a:p>
          <a:p>
            <a:pPr marL="24764">
              <a:lnSpc>
                <a:spcPct val="100000"/>
              </a:lnSpc>
              <a:spcBef>
                <a:spcPts val="95"/>
              </a:spcBef>
              <a:tabLst>
                <a:tab pos="252729" algn="l"/>
              </a:tabLst>
            </a:pPr>
            <a:endParaRPr lang="en-US" sz="1800" dirty="0" smtClean="0">
              <a:latin typeface="Montserrat" pitchFamily="2" charset="0"/>
            </a:endParaRPr>
          </a:p>
          <a:p>
            <a:pPr marL="24764">
              <a:lnSpc>
                <a:spcPct val="100000"/>
              </a:lnSpc>
              <a:spcBef>
                <a:spcPts val="95"/>
              </a:spcBef>
              <a:tabLst>
                <a:tab pos="252729" algn="l"/>
              </a:tabLst>
            </a:pP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CREATE</a:t>
            </a:r>
            <a:r>
              <a:rPr lang="en-US" sz="1800" dirty="0" smtClean="0">
                <a:solidFill>
                  <a:schemeClr val="accent1"/>
                </a:solidFill>
                <a:latin typeface="Montserrat" pitchFamily="2" charset="0"/>
              </a:rPr>
              <a:t> </a:t>
            </a: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VIEW </a:t>
            </a:r>
            <a:r>
              <a:rPr sz="1800" dirty="0" err="1" smtClean="0">
                <a:latin typeface="Montserrat" pitchFamily="2" charset="0"/>
              </a:rPr>
              <a:t>view_</a:t>
            </a:r>
            <a:r>
              <a:rPr lang="en-US" sz="1800" dirty="0" err="1" smtClean="0">
                <a:latin typeface="Montserrat" pitchFamily="2" charset="0"/>
              </a:rPr>
              <a:t>student</a:t>
            </a:r>
            <a:r>
              <a:rPr sz="1800" dirty="0" smtClean="0">
                <a:latin typeface="Montserrat" pitchFamily="2" charset="0"/>
              </a:rPr>
              <a:t> </a:t>
            </a:r>
            <a:endParaRPr lang="en-US" sz="1800" dirty="0" smtClean="0">
              <a:latin typeface="Montserrat" pitchFamily="2" charset="0"/>
            </a:endParaRPr>
          </a:p>
          <a:p>
            <a:pPr marL="24764">
              <a:lnSpc>
                <a:spcPct val="100000"/>
              </a:lnSpc>
              <a:spcBef>
                <a:spcPts val="95"/>
              </a:spcBef>
              <a:tabLst>
                <a:tab pos="252729" algn="l"/>
              </a:tabLst>
            </a:pP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AS </a:t>
            </a:r>
            <a:endParaRPr lang="en-US" sz="1800" dirty="0" smtClean="0">
              <a:solidFill>
                <a:schemeClr val="accent1"/>
              </a:solidFill>
              <a:latin typeface="Montserrat" pitchFamily="2" charset="0"/>
            </a:endParaRPr>
          </a:p>
          <a:p>
            <a:pPr marL="24764">
              <a:lnSpc>
                <a:spcPct val="100000"/>
              </a:lnSpc>
              <a:spcBef>
                <a:spcPts val="95"/>
              </a:spcBef>
              <a:tabLst>
                <a:tab pos="252729" algn="l"/>
              </a:tabLst>
            </a:pP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SELECT</a:t>
            </a:r>
            <a:r>
              <a:rPr sz="1800" dirty="0" smtClean="0">
                <a:latin typeface="Montserrat" pitchFamily="2" charset="0"/>
              </a:rPr>
              <a:t> </a:t>
            </a:r>
            <a:r>
              <a:rPr lang="en-US" sz="1800" dirty="0" smtClean="0">
                <a:latin typeface="Montserrat" pitchFamily="2" charset="0"/>
              </a:rPr>
              <a:t>id</a:t>
            </a:r>
            <a:r>
              <a:rPr sz="1800" dirty="0" smtClean="0">
                <a:latin typeface="Montserrat" pitchFamily="2" charset="0"/>
              </a:rPr>
              <a:t>, </a:t>
            </a:r>
            <a:r>
              <a:rPr lang="en-US" sz="1800" dirty="0" smtClean="0">
                <a:latin typeface="Montserrat" pitchFamily="2" charset="0"/>
              </a:rPr>
              <a:t>name, phone, address</a:t>
            </a:r>
            <a:r>
              <a:rPr sz="1800" dirty="0" smtClean="0">
                <a:latin typeface="Montserrat" pitchFamily="2" charset="0"/>
              </a:rPr>
              <a:t> </a:t>
            </a:r>
            <a:endParaRPr lang="en-US" sz="1800" dirty="0" smtClean="0">
              <a:latin typeface="Montserrat" pitchFamily="2" charset="0"/>
            </a:endParaRPr>
          </a:p>
          <a:p>
            <a:pPr marL="24764">
              <a:lnSpc>
                <a:spcPct val="100000"/>
              </a:lnSpc>
              <a:spcBef>
                <a:spcPts val="95"/>
              </a:spcBef>
              <a:tabLst>
                <a:tab pos="252729" algn="l"/>
              </a:tabLst>
            </a:pP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FROM</a:t>
            </a:r>
            <a:r>
              <a:rPr sz="1800" dirty="0" smtClean="0">
                <a:latin typeface="Montserrat" pitchFamily="2" charset="0"/>
              </a:rPr>
              <a:t> </a:t>
            </a:r>
            <a:r>
              <a:rPr lang="en-US" sz="1800" dirty="0" smtClean="0">
                <a:latin typeface="Montserrat" pitchFamily="2" charset="0"/>
              </a:rPr>
              <a:t>Students</a:t>
            </a:r>
            <a:endParaRPr sz="1800" dirty="0">
              <a:latin typeface="Montserrat" pitchFamily="2" charset="0"/>
            </a:endParaRPr>
          </a:p>
          <a:p>
            <a:pPr marL="12700" algn="just">
              <a:lnSpc>
                <a:spcPts val="2860"/>
              </a:lnSpc>
            </a:pP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WHERE</a:t>
            </a:r>
            <a:r>
              <a:rPr lang="en-US" sz="1800" dirty="0">
                <a:solidFill>
                  <a:schemeClr val="tx1"/>
                </a:solidFill>
                <a:latin typeface="Montserrat" pitchFamily="2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Montserrat" pitchFamily="2" charset="0"/>
              </a:rPr>
              <a:t>class_id</a:t>
            </a:r>
            <a:r>
              <a:rPr lang="en-US" sz="1800" dirty="0" smtClean="0">
                <a:solidFill>
                  <a:schemeClr val="tx1"/>
                </a:solidFill>
                <a:latin typeface="Montserrat" pitchFamily="2" charset="0"/>
              </a:rPr>
              <a:t> </a:t>
            </a:r>
            <a:r>
              <a:rPr lang="en-US" sz="1800" dirty="0" smtClean="0">
                <a:solidFill>
                  <a:schemeClr val="accent1"/>
                </a:solidFill>
                <a:latin typeface="Montserrat" pitchFamily="2" charset="0"/>
              </a:rPr>
              <a:t>LIKE</a:t>
            </a:r>
            <a:r>
              <a:rPr lang="en-US" sz="1800" dirty="0" smtClean="0">
                <a:solidFill>
                  <a:schemeClr val="tx1"/>
                </a:solidFill>
                <a:latin typeface="Montserrat" pitchFamily="2" charset="0"/>
              </a:rPr>
              <a:t> ’11A1’;</a:t>
            </a:r>
            <a:endParaRPr sz="1800" dirty="0">
              <a:latin typeface="Montserrat" pitchFamily="2" charset="0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6824821" y="4147674"/>
            <a:ext cx="4420451" cy="899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729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52729" algn="l"/>
              </a:tabLst>
            </a:pPr>
            <a:r>
              <a:rPr lang="en-US" sz="2000" spc="-100" dirty="0" err="1" smtClean="0">
                <a:latin typeface="Montserrat" pitchFamily="2" charset="0"/>
              </a:rPr>
              <a:t>Xóa</a:t>
            </a:r>
            <a:r>
              <a:rPr lang="en-US" sz="2000" spc="-100" dirty="0" smtClean="0">
                <a:latin typeface="Montserrat" pitchFamily="2" charset="0"/>
              </a:rPr>
              <a:t> View :</a:t>
            </a:r>
          </a:p>
          <a:p>
            <a:pPr marL="24764">
              <a:lnSpc>
                <a:spcPct val="100000"/>
              </a:lnSpc>
              <a:spcBef>
                <a:spcPts val="95"/>
              </a:spcBef>
              <a:tabLst>
                <a:tab pos="252729" algn="l"/>
              </a:tabLst>
            </a:pPr>
            <a:endParaRPr lang="en-US" sz="1800" dirty="0" smtClean="0">
              <a:latin typeface="Montserrat" pitchFamily="2" charset="0"/>
            </a:endParaRPr>
          </a:p>
          <a:p>
            <a:pPr marL="24764">
              <a:lnSpc>
                <a:spcPct val="100000"/>
              </a:lnSpc>
              <a:spcBef>
                <a:spcPts val="95"/>
              </a:spcBef>
              <a:tabLst>
                <a:tab pos="252729" algn="l"/>
              </a:tabLst>
            </a:pPr>
            <a:r>
              <a:rPr lang="en-US" sz="1800" dirty="0" smtClean="0">
                <a:solidFill>
                  <a:schemeClr val="accent1"/>
                </a:solidFill>
                <a:latin typeface="Montserrat" pitchFamily="2" charset="0"/>
              </a:rPr>
              <a:t>DROP </a:t>
            </a: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VIEW </a:t>
            </a:r>
            <a:r>
              <a:rPr lang="en-US" sz="1800" dirty="0" err="1" smtClean="0">
                <a:latin typeface="Montserrat" pitchFamily="2" charset="0"/>
              </a:rPr>
              <a:t>view_student</a:t>
            </a:r>
            <a:r>
              <a:rPr lang="en-US" sz="1800" dirty="0" smtClean="0">
                <a:latin typeface="Montserrat" pitchFamily="2" charset="0"/>
              </a:rPr>
              <a:t>;</a:t>
            </a:r>
            <a:r>
              <a:rPr sz="1800" dirty="0" smtClean="0">
                <a:latin typeface="Montserrat" pitchFamily="2" charset="0"/>
              </a:rPr>
              <a:t> </a:t>
            </a:r>
            <a:endParaRPr lang="en-US" sz="1800" dirty="0" smtClean="0">
              <a:latin typeface="Montserrat" pitchFamily="2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1130603" y="4147673"/>
            <a:ext cx="4420451" cy="899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729" indent="-227965">
              <a:lnSpc>
                <a:spcPct val="100000"/>
              </a:lnSpc>
              <a:spcBef>
                <a:spcPts val="95"/>
              </a:spcBef>
              <a:buChar char="•"/>
              <a:tabLst>
                <a:tab pos="252729" algn="l"/>
              </a:tabLst>
            </a:pPr>
            <a:r>
              <a:rPr lang="en-US" sz="2000" spc="-100" dirty="0" err="1" smtClean="0">
                <a:latin typeface="Montserrat" pitchFamily="2" charset="0"/>
              </a:rPr>
              <a:t>Xóa</a:t>
            </a:r>
            <a:r>
              <a:rPr lang="en-US" sz="2000" spc="-100" dirty="0" smtClean="0">
                <a:latin typeface="Montserrat" pitchFamily="2" charset="0"/>
              </a:rPr>
              <a:t> View :</a:t>
            </a:r>
          </a:p>
          <a:p>
            <a:pPr marL="24764">
              <a:lnSpc>
                <a:spcPct val="100000"/>
              </a:lnSpc>
              <a:spcBef>
                <a:spcPts val="95"/>
              </a:spcBef>
              <a:tabLst>
                <a:tab pos="252729" algn="l"/>
              </a:tabLst>
            </a:pPr>
            <a:endParaRPr lang="en-US" sz="1800" dirty="0" smtClean="0">
              <a:latin typeface="Montserrat" pitchFamily="2" charset="0"/>
            </a:endParaRPr>
          </a:p>
          <a:p>
            <a:pPr marL="24764">
              <a:lnSpc>
                <a:spcPct val="100000"/>
              </a:lnSpc>
              <a:spcBef>
                <a:spcPts val="95"/>
              </a:spcBef>
              <a:tabLst>
                <a:tab pos="252729" algn="l"/>
              </a:tabLst>
            </a:pPr>
            <a:r>
              <a:rPr lang="en-US" sz="1800" dirty="0" smtClean="0">
                <a:solidFill>
                  <a:schemeClr val="accent1"/>
                </a:solidFill>
                <a:latin typeface="Montserrat" pitchFamily="2" charset="0"/>
              </a:rPr>
              <a:t>DROP </a:t>
            </a: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VIEW </a:t>
            </a:r>
            <a:r>
              <a:rPr sz="1800" dirty="0" err="1" smtClean="0">
                <a:latin typeface="Montserrat" pitchFamily="2" charset="0"/>
              </a:rPr>
              <a:t>view_name</a:t>
            </a:r>
            <a:r>
              <a:rPr lang="en-US" sz="1800" dirty="0" smtClean="0">
                <a:latin typeface="Montserrat" pitchFamily="2" charset="0"/>
              </a:rPr>
              <a:t>;</a:t>
            </a:r>
            <a:r>
              <a:rPr sz="1800" dirty="0" smtClean="0">
                <a:latin typeface="Montserrat" pitchFamily="2" charset="0"/>
              </a:rPr>
              <a:t> </a:t>
            </a:r>
            <a:endParaRPr lang="en-US" sz="1800" dirty="0" smtClean="0">
              <a:latin typeface="Montserrat" pitchFamily="2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855855" y="1475612"/>
            <a:ext cx="9237" cy="3705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083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pc="-125" dirty="0" err="1" smtClean="0"/>
              <a:t>Tùy</a:t>
            </a:r>
            <a:r>
              <a:rPr lang="en-US" spc="-350" dirty="0" smtClean="0"/>
              <a:t> </a:t>
            </a:r>
            <a:r>
              <a:rPr lang="en-US" spc="-70" dirty="0" err="1" smtClean="0"/>
              <a:t>chọn</a:t>
            </a:r>
            <a:r>
              <a:rPr lang="en-US" spc="-204" dirty="0" smtClean="0"/>
              <a:t> </a:t>
            </a:r>
            <a:r>
              <a:rPr lang="en-US" dirty="0" smtClean="0"/>
              <a:t>Check Option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View</a:t>
            </a:r>
            <a:endParaRPr dirty="0"/>
          </a:p>
        </p:txBody>
      </p:sp>
      <p:sp>
        <p:nvSpPr>
          <p:cNvPr id="11" name="object 6"/>
          <p:cNvSpPr txBox="1"/>
          <p:nvPr/>
        </p:nvSpPr>
        <p:spPr>
          <a:xfrm>
            <a:off x="916635" y="1436369"/>
            <a:ext cx="12152820" cy="4430957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5080" indent="-229235">
              <a:lnSpc>
                <a:spcPct val="70000"/>
              </a:lnSpc>
              <a:spcBef>
                <a:spcPts val="885"/>
              </a:spcBef>
              <a:buChar char="•"/>
              <a:tabLst>
                <a:tab pos="241300" algn="l"/>
              </a:tabLst>
            </a:pPr>
            <a:r>
              <a:rPr sz="1800" dirty="0">
                <a:latin typeface="Montserrat" pitchFamily="2" charset="0"/>
              </a:rPr>
              <a:t>Đựơc sử dụng để đảm bảo rằng nếu bạn muốn sửa hoặc thêm dữ liệu thông qua </a:t>
            </a:r>
            <a:endParaRPr lang="en-US" sz="1800" dirty="0" smtClean="0">
              <a:latin typeface="Montserrat" pitchFamily="2" charset="0"/>
            </a:endParaRPr>
          </a:p>
          <a:p>
            <a:pPr marL="12065" marR="5080">
              <a:lnSpc>
                <a:spcPct val="70000"/>
              </a:lnSpc>
              <a:spcBef>
                <a:spcPts val="885"/>
              </a:spcBef>
              <a:tabLst>
                <a:tab pos="241300" algn="l"/>
              </a:tabLst>
            </a:pP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smtClean="0">
                <a:latin typeface="Montserrat" pitchFamily="2" charset="0"/>
              </a:rPr>
              <a:t>   </a:t>
            </a:r>
            <a:r>
              <a:rPr sz="1800" dirty="0" smtClean="0">
                <a:latin typeface="Montserrat" pitchFamily="2" charset="0"/>
              </a:rPr>
              <a:t>View </a:t>
            </a:r>
            <a:r>
              <a:rPr sz="1800" dirty="0">
                <a:latin typeface="Montserrat" pitchFamily="2" charset="0"/>
              </a:rPr>
              <a:t>thì những dữ liệu đó phải thỏa mãn tất cả các điều kiện trong câu lệnh Select</a:t>
            </a:r>
          </a:p>
          <a:p>
            <a:pPr marL="241300">
              <a:lnSpc>
                <a:spcPts val="2440"/>
              </a:lnSpc>
            </a:pPr>
            <a:r>
              <a:rPr sz="1800" dirty="0">
                <a:latin typeface="Montserrat" pitchFamily="2" charset="0"/>
              </a:rPr>
              <a:t>khi định </a:t>
            </a:r>
            <a:r>
              <a:rPr sz="1800" dirty="0" err="1">
                <a:latin typeface="Montserrat" pitchFamily="2" charset="0"/>
              </a:rPr>
              <a:t>nghĩa</a:t>
            </a:r>
            <a:r>
              <a:rPr sz="1800" dirty="0">
                <a:latin typeface="Montserrat" pitchFamily="2" charset="0"/>
              </a:rPr>
              <a:t> </a:t>
            </a:r>
            <a:r>
              <a:rPr sz="1800" dirty="0" smtClean="0">
                <a:latin typeface="Montserrat" pitchFamily="2" charset="0"/>
              </a:rPr>
              <a:t>view</a:t>
            </a:r>
            <a:endParaRPr lang="en-US" sz="1800" dirty="0" smtClean="0">
              <a:latin typeface="Montserrat" pitchFamily="2" charset="0"/>
            </a:endParaRPr>
          </a:p>
          <a:p>
            <a:pPr marL="241300">
              <a:lnSpc>
                <a:spcPts val="2440"/>
              </a:lnSpc>
            </a:pPr>
            <a:endParaRPr sz="1800" dirty="0">
              <a:latin typeface="Montserrat" pitchFamily="2" charset="0"/>
            </a:endParaRPr>
          </a:p>
          <a:p>
            <a:pPr marL="240665" indent="-227965">
              <a:lnSpc>
                <a:spcPct val="100000"/>
              </a:lnSpc>
              <a:spcBef>
                <a:spcPts val="204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FF0000"/>
                </a:solidFill>
                <a:latin typeface="Montserrat" pitchFamily="2" charset="0"/>
              </a:rPr>
              <a:t>Cú pháp:</a:t>
            </a:r>
            <a:endParaRPr sz="1800" dirty="0">
              <a:latin typeface="Montserrat" pitchFamily="2" charset="0"/>
            </a:endParaRPr>
          </a:p>
          <a:p>
            <a:pPr marL="241300">
              <a:lnSpc>
                <a:spcPct val="100000"/>
              </a:lnSpc>
              <a:spcBef>
                <a:spcPts val="215"/>
              </a:spcBef>
            </a:pPr>
            <a:r>
              <a:rPr lang="en-US" sz="1800" dirty="0" smtClean="0">
                <a:latin typeface="Montserrat" pitchFamily="2" charset="0"/>
              </a:rPr>
              <a:t>  </a:t>
            </a: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CREATE</a:t>
            </a:r>
            <a:r>
              <a:rPr sz="1800" dirty="0" smtClean="0">
                <a:latin typeface="Montserrat" pitchFamily="2" charset="0"/>
              </a:rPr>
              <a:t> </a:t>
            </a:r>
            <a:r>
              <a:rPr sz="1800" dirty="0">
                <a:latin typeface="Montserrat" pitchFamily="2" charset="0"/>
              </a:rPr>
              <a:t>[OR REPLACE </a:t>
            </a:r>
            <a:r>
              <a:rPr sz="1800" dirty="0">
                <a:solidFill>
                  <a:schemeClr val="accent1"/>
                </a:solidFill>
                <a:latin typeface="Montserrat" pitchFamily="2" charset="0"/>
              </a:rPr>
              <a:t>VIEW</a:t>
            </a:r>
            <a:r>
              <a:rPr sz="1800" dirty="0">
                <a:latin typeface="Montserrat" pitchFamily="2" charset="0"/>
              </a:rPr>
              <a:t>] view_name</a:t>
            </a:r>
          </a:p>
          <a:p>
            <a:pPr marL="241300">
              <a:lnSpc>
                <a:spcPct val="100000"/>
              </a:lnSpc>
              <a:spcBef>
                <a:spcPts val="425"/>
              </a:spcBef>
            </a:pPr>
            <a:r>
              <a:rPr lang="en-US" sz="1800" dirty="0" smtClean="0">
                <a:latin typeface="Montserrat" pitchFamily="2" charset="0"/>
              </a:rPr>
              <a:t>  </a:t>
            </a: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AS</a:t>
            </a:r>
            <a:endParaRPr sz="1800" dirty="0">
              <a:solidFill>
                <a:schemeClr val="accent1"/>
              </a:solidFill>
              <a:latin typeface="Montserrat" pitchFamily="2" charset="0"/>
            </a:endParaRPr>
          </a:p>
          <a:p>
            <a:pPr marL="373380">
              <a:lnSpc>
                <a:spcPct val="100000"/>
              </a:lnSpc>
              <a:spcBef>
                <a:spcPts val="420"/>
              </a:spcBef>
            </a:pPr>
            <a:r>
              <a:rPr lang="en-US" sz="1800" dirty="0" smtClean="0">
                <a:latin typeface="Montserrat" pitchFamily="2" charset="0"/>
              </a:rPr>
              <a:t>        </a:t>
            </a:r>
            <a:r>
              <a:rPr sz="1800" dirty="0" err="1" smtClean="0">
                <a:latin typeface="Montserrat" pitchFamily="2" charset="0"/>
              </a:rPr>
              <a:t>select_statement</a:t>
            </a:r>
            <a:endParaRPr lang="en-US" sz="1800" dirty="0" smtClean="0">
              <a:latin typeface="Montserrat" pitchFamily="2" charset="0"/>
            </a:endParaRPr>
          </a:p>
          <a:p>
            <a:pPr marL="373380">
              <a:lnSpc>
                <a:spcPct val="100000"/>
              </a:lnSpc>
              <a:spcBef>
                <a:spcPts val="420"/>
              </a:spcBef>
            </a:pP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WITH</a:t>
            </a:r>
            <a:r>
              <a:rPr sz="1800" dirty="0" smtClean="0">
                <a:latin typeface="Montserrat" pitchFamily="2" charset="0"/>
              </a:rPr>
              <a:t> </a:t>
            </a:r>
            <a:r>
              <a:rPr sz="1800" dirty="0">
                <a:solidFill>
                  <a:schemeClr val="accent1"/>
                </a:solidFill>
                <a:latin typeface="Montserrat" pitchFamily="2" charset="0"/>
              </a:rPr>
              <a:t>CHECK</a:t>
            </a:r>
            <a:r>
              <a:rPr sz="1800" dirty="0">
                <a:latin typeface="Montserrat" pitchFamily="2" charset="0"/>
              </a:rPr>
              <a:t> </a:t>
            </a:r>
            <a:r>
              <a:rPr sz="1800">
                <a:solidFill>
                  <a:schemeClr val="accent1"/>
                </a:solidFill>
                <a:latin typeface="Montserrat" pitchFamily="2" charset="0"/>
              </a:rPr>
              <a:t>OPTION</a:t>
            </a:r>
            <a:r>
              <a:rPr sz="1800" smtClean="0">
                <a:latin typeface="Montserrat" pitchFamily="2" charset="0"/>
              </a:rPr>
              <a:t>;</a:t>
            </a:r>
            <a:endParaRPr lang="en-US" sz="1800" smtClean="0">
              <a:latin typeface="Montserrat" pitchFamily="2" charset="0"/>
            </a:endParaRPr>
          </a:p>
          <a:p>
            <a:pPr marL="373380">
              <a:lnSpc>
                <a:spcPct val="100000"/>
              </a:lnSpc>
              <a:spcBef>
                <a:spcPts val="420"/>
              </a:spcBef>
            </a:pPr>
            <a:endParaRPr sz="1800" dirty="0">
              <a:latin typeface="Montserrat" pitchFamily="2" charset="0"/>
            </a:endParaRPr>
          </a:p>
          <a:p>
            <a:pPr marL="240665" indent="-227965">
              <a:lnSpc>
                <a:spcPct val="100000"/>
              </a:lnSpc>
              <a:spcBef>
                <a:spcPts val="515"/>
              </a:spcBef>
              <a:buChar char="•"/>
              <a:tabLst>
                <a:tab pos="240665" algn="l"/>
              </a:tabLst>
            </a:pPr>
            <a:r>
              <a:rPr sz="1800" dirty="0">
                <a:solidFill>
                  <a:srgbClr val="FF0000"/>
                </a:solidFill>
                <a:latin typeface="Montserrat" pitchFamily="2" charset="0"/>
              </a:rPr>
              <a:t>Ví dụ:</a:t>
            </a:r>
            <a:endParaRPr sz="1800" dirty="0">
              <a:latin typeface="Montserrat" pitchFamily="2" charset="0"/>
            </a:endParaRPr>
          </a:p>
          <a:p>
            <a:pPr marL="241300" marR="7644765">
              <a:lnSpc>
                <a:spcPct val="113199"/>
              </a:lnSpc>
            </a:pP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CREATE</a:t>
            </a:r>
            <a:r>
              <a:rPr lang="en-US" sz="1800" dirty="0" smtClean="0">
                <a:latin typeface="Montserrat" pitchFamily="2" charset="0"/>
              </a:rPr>
              <a:t> </a:t>
            </a: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VIEW</a:t>
            </a:r>
            <a:r>
              <a:rPr sz="1800" dirty="0" smtClean="0">
                <a:latin typeface="Montserrat" pitchFamily="2" charset="0"/>
              </a:rPr>
              <a:t> </a:t>
            </a:r>
            <a:r>
              <a:rPr sz="1800" dirty="0" err="1">
                <a:latin typeface="Montserrat" pitchFamily="2" charset="0"/>
              </a:rPr>
              <a:t>CustDetail</a:t>
            </a:r>
            <a:r>
              <a:rPr sz="1800" dirty="0">
                <a:latin typeface="Montserrat" pitchFamily="2" charset="0"/>
              </a:rPr>
              <a:t> </a:t>
            </a: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AS</a:t>
            </a:r>
            <a:endParaRPr sz="1800" dirty="0">
              <a:solidFill>
                <a:schemeClr val="accent1"/>
              </a:solidFill>
              <a:latin typeface="Montserrat" pitchFamily="2" charset="0"/>
            </a:endParaRPr>
          </a:p>
          <a:p>
            <a:pPr marL="241300" marR="2975610">
              <a:lnSpc>
                <a:spcPct val="113100"/>
              </a:lnSpc>
              <a:spcBef>
                <a:spcPts val="5"/>
              </a:spcBef>
            </a:pP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SELECT</a:t>
            </a:r>
            <a:r>
              <a:rPr lang="en-US" sz="1800" dirty="0" smtClean="0">
                <a:latin typeface="Montserrat" pitchFamily="2" charset="0"/>
              </a:rPr>
              <a:t> </a:t>
            </a:r>
            <a:r>
              <a:rPr sz="1800" dirty="0" smtClean="0">
                <a:latin typeface="Montserrat" pitchFamily="2" charset="0"/>
              </a:rPr>
              <a:t>* </a:t>
            </a:r>
            <a:r>
              <a:rPr sz="1800" dirty="0">
                <a:solidFill>
                  <a:schemeClr val="accent1"/>
                </a:solidFill>
                <a:latin typeface="Montserrat" pitchFamily="2" charset="0"/>
              </a:rPr>
              <a:t>FROM</a:t>
            </a:r>
            <a:r>
              <a:rPr sz="1800" dirty="0">
                <a:latin typeface="Montserrat" pitchFamily="2" charset="0"/>
              </a:rPr>
              <a:t> Customer </a:t>
            </a:r>
            <a:r>
              <a:rPr sz="1800" dirty="0">
                <a:solidFill>
                  <a:schemeClr val="accent1"/>
                </a:solidFill>
                <a:latin typeface="Montserrat" pitchFamily="2" charset="0"/>
              </a:rPr>
              <a:t>WHERE</a:t>
            </a:r>
            <a:r>
              <a:rPr sz="1800" dirty="0">
                <a:latin typeface="Montserrat" pitchFamily="2" charset="0"/>
              </a:rPr>
              <a:t> City </a:t>
            </a:r>
            <a:r>
              <a:rPr sz="1800" dirty="0">
                <a:solidFill>
                  <a:schemeClr val="accent1"/>
                </a:solidFill>
                <a:latin typeface="Montserrat" pitchFamily="2" charset="0"/>
              </a:rPr>
              <a:t>in</a:t>
            </a:r>
            <a:r>
              <a:rPr sz="1800" dirty="0">
                <a:latin typeface="Montserrat" pitchFamily="2" charset="0"/>
              </a:rPr>
              <a:t> </a:t>
            </a:r>
            <a:r>
              <a:rPr sz="1800" dirty="0" smtClean="0">
                <a:latin typeface="Montserrat" pitchFamily="2" charset="0"/>
              </a:rPr>
              <a:t>(</a:t>
            </a:r>
            <a:r>
              <a:rPr lang="en-US" sz="1800" dirty="0" smtClean="0">
                <a:latin typeface="Montserrat" pitchFamily="2" charset="0"/>
              </a:rPr>
              <a:t>‘Ha </a:t>
            </a:r>
            <a:r>
              <a:rPr lang="en-US" sz="1800" dirty="0" err="1" smtClean="0">
                <a:latin typeface="Montserrat" pitchFamily="2" charset="0"/>
              </a:rPr>
              <a:t>Noi</a:t>
            </a:r>
            <a:r>
              <a:rPr lang="en-US" sz="1800" dirty="0" smtClean="0">
                <a:latin typeface="Montserrat" pitchFamily="2" charset="0"/>
              </a:rPr>
              <a:t>’, ‘Hai </a:t>
            </a:r>
            <a:r>
              <a:rPr lang="en-US" sz="1800" dirty="0" err="1" smtClean="0">
                <a:latin typeface="Montserrat" pitchFamily="2" charset="0"/>
              </a:rPr>
              <a:t>Phong</a:t>
            </a:r>
            <a:r>
              <a:rPr lang="en-US" sz="1800" dirty="0" smtClean="0">
                <a:latin typeface="Montserrat" pitchFamily="2" charset="0"/>
              </a:rPr>
              <a:t>’,’Ho Chi Minh’</a:t>
            </a:r>
            <a:r>
              <a:rPr sz="1800" dirty="0" smtClean="0">
                <a:latin typeface="Montserrat" pitchFamily="2" charset="0"/>
              </a:rPr>
              <a:t>) </a:t>
            </a:r>
            <a:endParaRPr lang="en-US" sz="1800" dirty="0" smtClean="0">
              <a:latin typeface="Montserrat" pitchFamily="2" charset="0"/>
            </a:endParaRPr>
          </a:p>
          <a:p>
            <a:pPr marL="241300" marR="2975610">
              <a:lnSpc>
                <a:spcPct val="113100"/>
              </a:lnSpc>
              <a:spcBef>
                <a:spcPts val="5"/>
              </a:spcBef>
            </a:pPr>
            <a:r>
              <a:rPr sz="1800" dirty="0" smtClean="0">
                <a:solidFill>
                  <a:schemeClr val="accent1"/>
                </a:solidFill>
                <a:latin typeface="Montserrat" pitchFamily="2" charset="0"/>
              </a:rPr>
              <a:t>WITH</a:t>
            </a:r>
            <a:r>
              <a:rPr sz="1800" dirty="0" smtClean="0">
                <a:latin typeface="Montserrat" pitchFamily="2" charset="0"/>
              </a:rPr>
              <a:t> </a:t>
            </a:r>
            <a:r>
              <a:rPr sz="1800" dirty="0">
                <a:solidFill>
                  <a:schemeClr val="accent1"/>
                </a:solidFill>
                <a:latin typeface="Montserrat" pitchFamily="2" charset="0"/>
              </a:rPr>
              <a:t>CHECK</a:t>
            </a:r>
            <a:r>
              <a:rPr sz="1800" dirty="0">
                <a:latin typeface="Montserrat" pitchFamily="2" charset="0"/>
              </a:rPr>
              <a:t> </a:t>
            </a:r>
            <a:r>
              <a:rPr sz="1800" dirty="0">
                <a:solidFill>
                  <a:schemeClr val="accent1"/>
                </a:solidFill>
                <a:latin typeface="Montserrat" pitchFamily="2" charset="0"/>
              </a:rPr>
              <a:t>OPTION</a:t>
            </a:r>
            <a:r>
              <a:rPr sz="1800" dirty="0" smtClean="0">
                <a:latin typeface="Montserrat" pitchFamily="2" charset="0"/>
              </a:rPr>
              <a:t>;</a:t>
            </a:r>
            <a:endParaRPr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698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"/>
          <p:cNvSpPr txBox="1">
            <a:spLocks noGrp="1"/>
          </p:cNvSpPr>
          <p:nvPr>
            <p:ph type="ctrTitle"/>
          </p:nvPr>
        </p:nvSpPr>
        <p:spPr>
          <a:xfrm>
            <a:off x="279991" y="3969209"/>
            <a:ext cx="9144000" cy="1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</a:pPr>
            <a:r>
              <a:rPr lang="en-US"/>
              <a:t>KẾT THÚC</a:t>
            </a:r>
            <a:endParaRPr/>
          </a:p>
        </p:txBody>
      </p:sp>
      <p:sp>
        <p:nvSpPr>
          <p:cNvPr id="317" name="Google Shape;317;p15"/>
          <p:cNvSpPr txBox="1">
            <a:spLocks noGrp="1"/>
          </p:cNvSpPr>
          <p:nvPr>
            <p:ph type="subTitle" idx="1"/>
          </p:nvPr>
        </p:nvSpPr>
        <p:spPr>
          <a:xfrm>
            <a:off x="279991" y="5433627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HỌC VIỆN ĐÀO TẠO LẬP TRÌNH CHẤT LƯỢNG NHẬT BẢN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741</Words>
  <Application>Microsoft Office PowerPoint</Application>
  <PresentationFormat>Widescreen</PresentationFormat>
  <Paragraphs>127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Montserrat ExtraBold</vt:lpstr>
      <vt:lpstr>Montserrat Medium</vt:lpstr>
      <vt:lpstr>Montserrat Black</vt:lpstr>
      <vt:lpstr>Arial</vt:lpstr>
      <vt:lpstr>Courier New</vt:lpstr>
      <vt:lpstr>Montserrat</vt:lpstr>
      <vt:lpstr>Trebuchet MS</vt:lpstr>
      <vt:lpstr>Wingdings</vt:lpstr>
      <vt:lpstr>Calibri</vt:lpstr>
      <vt:lpstr>Tahoma</vt:lpstr>
      <vt:lpstr>Carlito</vt:lpstr>
      <vt:lpstr>Office Theme</vt:lpstr>
      <vt:lpstr>Index - View</vt:lpstr>
      <vt:lpstr> NỘI DUNG</vt:lpstr>
      <vt:lpstr>Khái niệm chỉ mục - index</vt:lpstr>
      <vt:lpstr>Khái niệm chỉ mục – Ví dụ</vt:lpstr>
      <vt:lpstr>Chỉ mục – Ưu và nhược điểm</vt:lpstr>
      <vt:lpstr>Chỉ mục –  cấu trúc cây</vt:lpstr>
      <vt:lpstr>Chỉ mục –  Phân loại</vt:lpstr>
      <vt:lpstr>Chỉ mục –  So sánh</vt:lpstr>
      <vt:lpstr>Chỉ mục –  Cú pháp</vt:lpstr>
      <vt:lpstr>Khái niệm về khung nhìn - View</vt:lpstr>
      <vt:lpstr>Khái niệm về View– Cú pháp</vt:lpstr>
      <vt:lpstr>Tùy chọn Check Option khi tạo View</vt:lpstr>
      <vt:lpstr>KẾT THÚC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Procedure – Trigger - Transaction</dc:title>
  <dc:creator>QuangND</dc:creator>
  <cp:lastModifiedBy>AD</cp:lastModifiedBy>
  <cp:revision>14</cp:revision>
  <dcterms:modified xsi:type="dcterms:W3CDTF">2026-01-08T23:39:52Z</dcterms:modified>
</cp:coreProperties>
</file>